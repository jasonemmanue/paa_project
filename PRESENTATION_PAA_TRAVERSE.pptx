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63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515600" cy="457200"/>
          </a:xfrm>
          <a:prstGeom prst="rect">
            <a:avLst/>
          </a:prstGeom>
          <a:noFill/>
        </p:spPr>
        <p:txBody>
          <a:bodyPr wrap="square" anchor="t" lIns="45720" rIns="45720" tIns="18288" bIns="18288">
            <a:spAutoFit/>
          </a:bodyPr>
          <a:lstStyle/>
          <a:p>
            <a:pPr algn="l">
              <a:spcBef>
                <a:spcPts val="200"/>
              </a:spcBef>
              <a:spcAft>
                <a:spcPts val="0"/>
              </a:spcAft>
              <a:buNone/>
            </a:pPr>
            <a:r>
              <a:rPr sz="1400" b="1" i="0">
                <a:solidFill>
                  <a:srgbClr val="53B9E8"/>
                </a:solidFill>
                <a:latin typeface="Calibri"/>
              </a:rPr>
              <a:t>PORT AUTONOME D’ABIDJAN  —  DEESP / DEEF</a:t>
            </a:r>
          </a:p>
        </p:txBody>
      </p:sp>
      <p:sp>
        <p:nvSpPr>
          <p:cNvPr id="6" name="TextBox 5"/>
          <p:cNvSpPr txBox="1"/>
          <p:nvPr/>
        </p:nvSpPr>
        <p:spPr>
          <a:xfrm>
            <a:off x="822960" y="1828800"/>
            <a:ext cx="10515600" cy="2011680"/>
          </a:xfrm>
          <a:prstGeom prst="rect">
            <a:avLst/>
          </a:prstGeom>
          <a:noFill/>
        </p:spPr>
        <p:txBody>
          <a:bodyPr wrap="square" anchor="t" lIns="45720" rIns="45720" tIns="18288" bIns="18288">
            <a:spAutoFit/>
          </a:bodyPr>
          <a:lstStyle/>
          <a:p>
            <a:pPr algn="l">
              <a:spcBef>
                <a:spcPts val="200"/>
              </a:spcBef>
              <a:spcAft>
                <a:spcPts val="600"/>
              </a:spcAft>
              <a:buNone/>
            </a:pPr>
            <a:r>
              <a:rPr sz="5800" b="1" i="0">
                <a:solidFill>
                  <a:srgbClr val="FFFFFF"/>
                </a:solidFill>
                <a:latin typeface="Calibri"/>
              </a:rPr>
              <a:t>PAA-TRAVERSE</a:t>
            </a:r>
          </a:p>
          <a:p>
            <a:pPr algn="l">
              <a:spcBef>
                <a:spcPts val="200"/>
              </a:spcBef>
              <a:spcAft>
                <a:spcPts val="200"/>
              </a:spcAft>
              <a:buNone/>
            </a:pPr>
            <a:r>
              <a:rPr sz="2200" b="0" i="0">
                <a:solidFill>
                  <a:srgbClr val="CFE1F2"/>
                </a:solidFill>
                <a:latin typeface="Calibri"/>
              </a:rPr>
              <a:t>Suivi et visualisation en temps réel des temps de traversée</a:t>
            </a:r>
          </a:p>
          <a:p>
            <a:pPr algn="l">
              <a:spcBef>
                <a:spcPts val="200"/>
              </a:spcBef>
              <a:spcAft>
                <a:spcPts val="0"/>
              </a:spcAft>
              <a:buNone/>
            </a:pPr>
            <a:r>
              <a:rPr sz="2200" b="0" i="0">
                <a:solidFill>
                  <a:srgbClr val="CFE1F2"/>
                </a:solidFill>
                <a:latin typeface="Calibri"/>
              </a:rPr>
              <a:t>des axes routiers stratégiques de la zone portuaire d’Abidjan</a:t>
            </a:r>
          </a:p>
        </p:txBody>
      </p:sp>
      <p:sp>
        <p:nvSpPr>
          <p:cNvPr id="7" name="TextBox 6"/>
          <p:cNvSpPr txBox="1"/>
          <p:nvPr/>
        </p:nvSpPr>
        <p:spPr>
          <a:xfrm>
            <a:off x="822960" y="4892040"/>
            <a:ext cx="10515600" cy="137160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FFFFFF"/>
                </a:solidFill>
                <a:latin typeface="Calibri"/>
              </a:rPr>
              <a:t>Équipe HACKHATONIA  </a:t>
            </a:r>
            <a:r>
              <a:rPr sz="1400" b="0" i="0">
                <a:solidFill>
                  <a:srgbClr val="B9CCE0"/>
                </a:solidFill>
                <a:latin typeface="Calibri"/>
              </a:rPr>
              <a:t>—  Manga Wilfried · Assamoi Ruth · Sakam Emmanuel · Chewo Helena</a:t>
            </a:r>
          </a:p>
          <a:p>
            <a:pPr algn="l">
              <a:spcBef>
                <a:spcPts val="200"/>
              </a:spcBef>
              <a:spcAft>
                <a:spcPts val="0"/>
              </a:spcAft>
              <a:buNone/>
            </a:pPr>
            <a:r>
              <a:rPr sz="1300" b="0" i="0">
                <a:solidFill>
                  <a:srgbClr val="53B9E8"/>
                </a:solidFill>
                <a:latin typeface="Calibri"/>
              </a:rPr>
              <a:t>STAT-HACK’26 · Défi Port Autonome d’Abidjan · Prototype v1.0.0 déployé en production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DÉROULÉ DE LA PRÉSENTATION</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Ce que nous allons voir</a:t>
            </a:r>
          </a:p>
        </p:txBody>
      </p:sp>
      <p:sp>
        <p:nvSpPr>
          <p:cNvPr id="7" name="Oval 6"/>
          <p:cNvSpPr/>
          <p:nvPr/>
        </p:nvSpPr>
        <p:spPr>
          <a:xfrm>
            <a:off x="640080" y="1691640"/>
            <a:ext cx="640080" cy="640080"/>
          </a:xfrm>
          <a:prstGeom prst="ellipse">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spcAft>
                <a:spcPts val="0"/>
              </a:spcAft>
              <a:buNone/>
            </a:pPr>
            <a:r>
              <a:rPr sz="2200" b="1" i="0">
                <a:solidFill>
                  <a:srgbClr val="FFFFFF"/>
                </a:solidFill>
                <a:latin typeface="Calibri"/>
              </a:rPr>
              <a:t>1</a:t>
            </a:r>
          </a:p>
        </p:txBody>
      </p:sp>
      <p:sp>
        <p:nvSpPr>
          <p:cNvPr id="8" name="TextBox 7"/>
          <p:cNvSpPr txBox="1"/>
          <p:nvPr/>
        </p:nvSpPr>
        <p:spPr>
          <a:xfrm>
            <a:off x="1508760" y="1645920"/>
            <a:ext cx="10058400" cy="777240"/>
          </a:xfrm>
          <a:prstGeom prst="rect">
            <a:avLst/>
          </a:prstGeom>
          <a:noFill/>
        </p:spPr>
        <p:txBody>
          <a:bodyPr wrap="square" anchor="t" lIns="45720" rIns="45720" tIns="18288" bIns="18288">
            <a:spAutoFit/>
          </a:bodyPr>
          <a:lstStyle/>
          <a:p>
            <a:pPr algn="l">
              <a:spcBef>
                <a:spcPts val="200"/>
              </a:spcBef>
              <a:spcAft>
                <a:spcPts val="100"/>
              </a:spcAft>
              <a:buNone/>
            </a:pPr>
            <a:r>
              <a:rPr sz="1900" b="1" i="0">
                <a:solidFill>
                  <a:srgbClr val="0F2240"/>
                </a:solidFill>
                <a:latin typeface="Calibri"/>
              </a:rPr>
              <a:t>Le contexte et la problématique</a:t>
            </a:r>
          </a:p>
          <a:p>
            <a:pPr algn="l">
              <a:spcBef>
                <a:spcPts val="200"/>
              </a:spcBef>
              <a:spcAft>
                <a:spcPts val="0"/>
              </a:spcAft>
              <a:buNone/>
            </a:pPr>
            <a:r>
              <a:rPr sz="1350" b="0" i="0">
                <a:solidFill>
                  <a:srgbClr val="5A5A5A"/>
                </a:solidFill>
                <a:latin typeface="Calibri"/>
              </a:rPr>
              <a:t>Pourquoi le temps de traversée est un enjeu stratégique.</a:t>
            </a:r>
          </a:p>
        </p:txBody>
      </p:sp>
      <p:sp>
        <p:nvSpPr>
          <p:cNvPr id="9" name="Oval 8"/>
          <p:cNvSpPr/>
          <p:nvPr/>
        </p:nvSpPr>
        <p:spPr>
          <a:xfrm>
            <a:off x="640080" y="2743200"/>
            <a:ext cx="640080" cy="640080"/>
          </a:xfrm>
          <a:prstGeom prst="ellipse">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spcAft>
                <a:spcPts val="0"/>
              </a:spcAft>
              <a:buNone/>
            </a:pPr>
            <a:r>
              <a:rPr sz="2200" b="1" i="0">
                <a:solidFill>
                  <a:srgbClr val="FFFFFF"/>
                </a:solidFill>
                <a:latin typeface="Calibri"/>
              </a:rPr>
              <a:t>2</a:t>
            </a:r>
          </a:p>
        </p:txBody>
      </p:sp>
      <p:sp>
        <p:nvSpPr>
          <p:cNvPr id="10" name="TextBox 9"/>
          <p:cNvSpPr txBox="1"/>
          <p:nvPr/>
        </p:nvSpPr>
        <p:spPr>
          <a:xfrm>
            <a:off x="1508760" y="2697480"/>
            <a:ext cx="10058400" cy="777240"/>
          </a:xfrm>
          <a:prstGeom prst="rect">
            <a:avLst/>
          </a:prstGeom>
          <a:noFill/>
        </p:spPr>
        <p:txBody>
          <a:bodyPr wrap="square" anchor="t" lIns="45720" rIns="45720" tIns="18288" bIns="18288">
            <a:spAutoFit/>
          </a:bodyPr>
          <a:lstStyle/>
          <a:p>
            <a:pPr algn="l">
              <a:spcBef>
                <a:spcPts val="200"/>
              </a:spcBef>
              <a:spcAft>
                <a:spcPts val="100"/>
              </a:spcAft>
              <a:buNone/>
            </a:pPr>
            <a:r>
              <a:rPr sz="1900" b="1" i="0">
                <a:solidFill>
                  <a:srgbClr val="0F2240"/>
                </a:solidFill>
                <a:latin typeface="Calibri"/>
              </a:rPr>
              <a:t>Les problèmes humains et nos solutions</a:t>
            </a:r>
          </a:p>
          <a:p>
            <a:pPr algn="l">
              <a:spcBef>
                <a:spcPts val="200"/>
              </a:spcBef>
              <a:spcAft>
                <a:spcPts val="0"/>
              </a:spcAft>
              <a:buNone/>
            </a:pPr>
            <a:r>
              <a:rPr sz="1350" b="0" i="0">
                <a:solidFill>
                  <a:srgbClr val="5A5A5A"/>
                </a:solidFill>
                <a:latin typeface="Calibri"/>
              </a:rPr>
              <a:t>Chaque difficulté concrète et la réponse de l’application.</a:t>
            </a:r>
          </a:p>
        </p:txBody>
      </p:sp>
      <p:sp>
        <p:nvSpPr>
          <p:cNvPr id="11" name="Oval 10"/>
          <p:cNvSpPr/>
          <p:nvPr/>
        </p:nvSpPr>
        <p:spPr>
          <a:xfrm>
            <a:off x="640080" y="3794760"/>
            <a:ext cx="640080" cy="640080"/>
          </a:xfrm>
          <a:prstGeom prst="ellipse">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spcAft>
                <a:spcPts val="0"/>
              </a:spcAft>
              <a:buNone/>
            </a:pPr>
            <a:r>
              <a:rPr sz="2200" b="1" i="0">
                <a:solidFill>
                  <a:srgbClr val="FFFFFF"/>
                </a:solidFill>
                <a:latin typeface="Calibri"/>
              </a:rPr>
              <a:t>3</a:t>
            </a:r>
          </a:p>
        </p:txBody>
      </p:sp>
      <p:sp>
        <p:nvSpPr>
          <p:cNvPr id="12" name="TextBox 11"/>
          <p:cNvSpPr txBox="1"/>
          <p:nvPr/>
        </p:nvSpPr>
        <p:spPr>
          <a:xfrm>
            <a:off x="1508760" y="3749040"/>
            <a:ext cx="10058400" cy="777240"/>
          </a:xfrm>
          <a:prstGeom prst="rect">
            <a:avLst/>
          </a:prstGeom>
          <a:noFill/>
        </p:spPr>
        <p:txBody>
          <a:bodyPr wrap="square" anchor="t" lIns="45720" rIns="45720" tIns="18288" bIns="18288">
            <a:spAutoFit/>
          </a:bodyPr>
          <a:lstStyle/>
          <a:p>
            <a:pPr algn="l">
              <a:spcBef>
                <a:spcPts val="200"/>
              </a:spcBef>
              <a:spcAft>
                <a:spcPts val="100"/>
              </a:spcAft>
              <a:buNone/>
            </a:pPr>
            <a:r>
              <a:rPr sz="1900" b="1" i="0">
                <a:solidFill>
                  <a:srgbClr val="0F2240"/>
                </a:solidFill>
                <a:latin typeface="Calibri"/>
              </a:rPr>
              <a:t>Les ajouts et le « surplus »</a:t>
            </a:r>
          </a:p>
          <a:p>
            <a:pPr algn="l">
              <a:spcBef>
                <a:spcPts val="200"/>
              </a:spcBef>
              <a:spcAft>
                <a:spcPts val="0"/>
              </a:spcAft>
              <a:buNone/>
            </a:pPr>
            <a:r>
              <a:rPr sz="1350" b="0" i="0">
                <a:solidFill>
                  <a:srgbClr val="5A5A5A"/>
                </a:solidFill>
                <a:latin typeface="Calibri"/>
              </a:rPr>
              <a:t>Ce qui approfondit la solution et facilite l’usage.</a:t>
            </a:r>
          </a:p>
        </p:txBody>
      </p:sp>
      <p:sp>
        <p:nvSpPr>
          <p:cNvPr id="13" name="Oval 12"/>
          <p:cNvSpPr/>
          <p:nvPr/>
        </p:nvSpPr>
        <p:spPr>
          <a:xfrm>
            <a:off x="640080" y="4846320"/>
            <a:ext cx="640080" cy="640080"/>
          </a:xfrm>
          <a:prstGeom prst="ellipse">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spcAft>
                <a:spcPts val="0"/>
              </a:spcAft>
              <a:buNone/>
            </a:pPr>
            <a:r>
              <a:rPr sz="2200" b="1" i="0">
                <a:solidFill>
                  <a:srgbClr val="FFFFFF"/>
                </a:solidFill>
                <a:latin typeface="Calibri"/>
              </a:rPr>
              <a:t>4</a:t>
            </a:r>
          </a:p>
        </p:txBody>
      </p:sp>
      <p:sp>
        <p:nvSpPr>
          <p:cNvPr id="14" name="TextBox 13"/>
          <p:cNvSpPr txBox="1"/>
          <p:nvPr/>
        </p:nvSpPr>
        <p:spPr>
          <a:xfrm>
            <a:off x="1508760" y="4800600"/>
            <a:ext cx="10058400" cy="777240"/>
          </a:xfrm>
          <a:prstGeom prst="rect">
            <a:avLst/>
          </a:prstGeom>
          <a:noFill/>
        </p:spPr>
        <p:txBody>
          <a:bodyPr wrap="square" anchor="t" lIns="45720" rIns="45720" tIns="18288" bIns="18288">
            <a:spAutoFit/>
          </a:bodyPr>
          <a:lstStyle/>
          <a:p>
            <a:pPr algn="l">
              <a:spcBef>
                <a:spcPts val="200"/>
              </a:spcBef>
              <a:spcAft>
                <a:spcPts val="100"/>
              </a:spcAft>
              <a:buNone/>
            </a:pPr>
            <a:r>
              <a:rPr sz="1900" b="1" i="0">
                <a:solidFill>
                  <a:srgbClr val="0F2240"/>
                </a:solidFill>
                <a:latin typeface="Calibri"/>
              </a:rPr>
              <a:t>Conclusion</a:t>
            </a:r>
          </a:p>
          <a:p>
            <a:pPr algn="l">
              <a:spcBef>
                <a:spcPts val="200"/>
              </a:spcBef>
              <a:spcAft>
                <a:spcPts val="0"/>
              </a:spcAft>
              <a:buNone/>
            </a:pPr>
            <a:r>
              <a:rPr sz="1350" b="0" i="0">
                <a:solidFill>
                  <a:srgbClr val="5A5A5A"/>
                </a:solidFill>
                <a:latin typeface="Calibri"/>
              </a:rPr>
              <a:t>Conformité DEESP, impact et accès à l’application.</a:t>
            </a:r>
          </a:p>
        </p:txBody>
      </p:sp>
      <p:sp>
        <p:nvSpPr>
          <p:cNvPr id="15" name="Rectangle 14"/>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7" name="TextBox 16"/>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nchor="t" lIns="45720" rIns="45720" tIns="18288" bIns="18288">
            <a:spAutoFit/>
          </a:bodyPr>
          <a:lstStyle/>
          <a:p>
            <a:pPr algn="l">
              <a:spcBef>
                <a:spcPts val="200"/>
              </a:spcBef>
              <a:spcAft>
                <a:spcPts val="0"/>
              </a:spcAft>
              <a:buNone/>
            </a:pPr>
            <a:r>
              <a:rPr sz="4000" b="1" i="0">
                <a:solidFill>
                  <a:srgbClr val="53B9E8"/>
                </a:solidFill>
                <a:latin typeface="Calibri"/>
              </a:rPr>
              <a:t>1</a:t>
            </a:r>
          </a:p>
        </p:txBody>
      </p:sp>
      <p:sp>
        <p:nvSpPr>
          <p:cNvPr id="5" name="TextBox 4"/>
          <p:cNvSpPr txBox="1"/>
          <p:nvPr/>
        </p:nvSpPr>
        <p:spPr>
          <a:xfrm>
            <a:off x="822960" y="3063240"/>
            <a:ext cx="10515600" cy="1280160"/>
          </a:xfrm>
          <a:prstGeom prst="rect">
            <a:avLst/>
          </a:prstGeom>
          <a:noFill/>
        </p:spPr>
        <p:txBody>
          <a:bodyPr wrap="square" anchor="t" lIns="45720" rIns="45720" tIns="18288" bIns="18288">
            <a:spAutoFit/>
          </a:bodyPr>
          <a:lstStyle/>
          <a:p>
            <a:pPr algn="l">
              <a:spcBef>
                <a:spcPts val="200"/>
              </a:spcBef>
              <a:spcAft>
                <a:spcPts val="0"/>
              </a:spcAft>
              <a:buNone/>
            </a:pPr>
            <a:r>
              <a:rPr sz="3600" b="1" i="0">
                <a:solidFill>
                  <a:srgbClr val="FFFFFF"/>
                </a:solidFill>
                <a:latin typeface="Calibri"/>
              </a:rPr>
              <a:t>Le contexte et la problématique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CONTEXTE</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Le Port d’Abidjan, un hub stratégique sous tension</a:t>
            </a:r>
          </a:p>
        </p:txBody>
      </p:sp>
      <p:sp>
        <p:nvSpPr>
          <p:cNvPr id="7" name="Rounded Rectangle 6"/>
          <p:cNvSpPr/>
          <p:nvPr/>
        </p:nvSpPr>
        <p:spPr>
          <a:xfrm>
            <a:off x="548640" y="1691640"/>
            <a:ext cx="3611880" cy="27432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91640"/>
            <a:ext cx="91440" cy="274320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19656"/>
            <a:ext cx="3200400" cy="251460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Hub maritime stratégique</a:t>
            </a:r>
          </a:p>
          <a:p>
            <a:pPr algn="l">
              <a:spcBef>
                <a:spcPts val="200"/>
              </a:spcBef>
              <a:spcAft>
                <a:spcPts val="300"/>
              </a:spcAft>
              <a:buNone/>
            </a:pPr>
            <a:r>
              <a:rPr sz="1250" b="0" i="0">
                <a:solidFill>
                  <a:srgbClr val="333B47"/>
                </a:solidFill>
                <a:latin typeface="Calibri"/>
              </a:rPr>
              <a:t>Principale porte d’entrée maritime de l’Afrique de l’Ouest et plaque tournante du commerce extérieur ivoirien.</a:t>
            </a:r>
          </a:p>
        </p:txBody>
      </p:sp>
      <p:sp>
        <p:nvSpPr>
          <p:cNvPr id="10" name="Rounded Rectangle 9"/>
          <p:cNvSpPr/>
          <p:nvPr/>
        </p:nvSpPr>
        <p:spPr>
          <a:xfrm>
            <a:off x="4251959" y="1691640"/>
            <a:ext cx="3611880" cy="27432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51959" y="1691640"/>
            <a:ext cx="91440" cy="274320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819656"/>
            <a:ext cx="3200400" cy="251460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Corridor de l’hinterland</a:t>
            </a:r>
          </a:p>
          <a:p>
            <a:pPr algn="l">
              <a:spcBef>
                <a:spcPts val="200"/>
              </a:spcBef>
              <a:spcAft>
                <a:spcPts val="300"/>
              </a:spcAft>
              <a:buNone/>
            </a:pPr>
            <a:r>
              <a:rPr sz="1250" b="0" i="0">
                <a:solidFill>
                  <a:srgbClr val="333B47"/>
                </a:solidFill>
                <a:latin typeface="Calibri"/>
              </a:rPr>
              <a:t>Dessert par la route les pays enclavés — Burkina Faso, Mali, Niger. Sa performance conditionne un corridor entier.</a:t>
            </a:r>
          </a:p>
        </p:txBody>
      </p:sp>
      <p:sp>
        <p:nvSpPr>
          <p:cNvPr id="13" name="Rounded Rectangle 12"/>
          <p:cNvSpPr/>
          <p:nvPr/>
        </p:nvSpPr>
        <p:spPr>
          <a:xfrm>
            <a:off x="7955279" y="1691640"/>
            <a:ext cx="3611880" cy="27432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79" y="1691640"/>
            <a:ext cx="91440" cy="274320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1" y="1819656"/>
            <a:ext cx="3200400" cy="251460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Défi de fluidité</a:t>
            </a:r>
          </a:p>
          <a:p>
            <a:pPr algn="l">
              <a:spcBef>
                <a:spcPts val="200"/>
              </a:spcBef>
              <a:spcAft>
                <a:spcPts val="300"/>
              </a:spcAft>
              <a:buNone/>
            </a:pPr>
            <a:r>
              <a:rPr sz="1250" b="0" i="0">
                <a:solidFill>
                  <a:srgbClr val="333B47"/>
                </a:solidFill>
                <a:latin typeface="Calibri"/>
              </a:rPr>
              <a:t>Trafic croissant + géographie lagunaire (ponts limités) = goulets d’étranglement. Chaque minute perdue coûte.</a:t>
            </a:r>
          </a:p>
        </p:txBody>
      </p:sp>
      <p:sp>
        <p:nvSpPr>
          <p:cNvPr id="16" name="TextBox 15"/>
          <p:cNvSpPr txBox="1"/>
          <p:nvPr/>
        </p:nvSpPr>
        <p:spPr>
          <a:xfrm>
            <a:off x="640080" y="4709160"/>
            <a:ext cx="10972800" cy="1463040"/>
          </a:xfrm>
          <a:prstGeom prst="rect">
            <a:avLst/>
          </a:prstGeom>
          <a:noFill/>
        </p:spPr>
        <p:txBody>
          <a:bodyPr wrap="square" anchor="ctr" lIns="45720" rIns="45720" tIns="18288" bIns="18288">
            <a:spAutoFit/>
          </a:bodyPr>
          <a:lstStyle/>
          <a:p>
            <a:pPr algn="l">
              <a:spcBef>
                <a:spcPts val="200"/>
              </a:spcBef>
              <a:spcAft>
                <a:spcPts val="400"/>
              </a:spcAft>
              <a:buNone/>
            </a:pPr>
            <a:r>
              <a:rPr sz="1700" b="1" i="0">
                <a:solidFill>
                  <a:srgbClr val="0F2240"/>
                </a:solidFill>
                <a:latin typeface="Calibri"/>
              </a:rPr>
              <a:t>L’enjeu central : </a:t>
            </a:r>
            <a:r>
              <a:rPr sz="1700" b="0" i="0">
                <a:solidFill>
                  <a:srgbClr val="333B47"/>
                </a:solidFill>
                <a:latin typeface="Calibri"/>
              </a:rPr>
              <a:t>mesurer précisément, de bout en bout, le temps d’accès à la zone portuaire et rendre cette information exploitable en temps réel pour fluidifier les flux et orienter la décision.</a:t>
            </a:r>
          </a:p>
        </p:txBody>
      </p:sp>
      <p:sp>
        <p:nvSpPr>
          <p:cNvPr id="17" name="Rectangle 16"/>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9" name="TextBox 18"/>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LE PROBLÈME</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Un dispositif de mesure encore artisanal</a:t>
            </a:r>
          </a:p>
        </p:txBody>
      </p:sp>
      <p:sp>
        <p:nvSpPr>
          <p:cNvPr id="7" name="TextBox 6"/>
          <p:cNvSpPr txBox="1"/>
          <p:nvPr/>
        </p:nvSpPr>
        <p:spPr>
          <a:xfrm>
            <a:off x="548640" y="1463040"/>
            <a:ext cx="11064240" cy="731520"/>
          </a:xfrm>
          <a:prstGeom prst="rect">
            <a:avLst/>
          </a:prstGeom>
          <a:noFill/>
        </p:spPr>
        <p:txBody>
          <a:bodyPr wrap="square" anchor="t" lIns="45720" rIns="45720" tIns="18288" bIns="18288">
            <a:spAutoFit/>
          </a:bodyPr>
          <a:lstStyle/>
          <a:p>
            <a:pPr algn="l">
              <a:spcBef>
                <a:spcPts val="200"/>
              </a:spcBef>
              <a:spcAft>
                <a:spcPts val="0"/>
              </a:spcAft>
              <a:buNone/>
            </a:pPr>
            <a:r>
              <a:rPr sz="1500" b="0" i="0">
                <a:solidFill>
                  <a:srgbClr val="333B47"/>
                </a:solidFill>
                <a:latin typeface="Calibri"/>
              </a:rPr>
              <a:t>Le « temps de traversée » est un indicateur clé du Contrat de Performance du PAA. Mais sa production reposait jusqu’ici sur des relevés manuels et des consultations ponctuelles de Google Maps :</a:t>
            </a:r>
          </a:p>
        </p:txBody>
      </p:sp>
      <p:sp>
        <p:nvSpPr>
          <p:cNvPr id="8" name="Rectangle 7"/>
          <p:cNvSpPr/>
          <p:nvPr/>
        </p:nvSpPr>
        <p:spPr>
          <a:xfrm>
            <a:off x="548640" y="2286000"/>
            <a:ext cx="146304" cy="566928"/>
          </a:xfrm>
          <a:prstGeom prst="rect">
            <a:avLst/>
          </a:prstGeom>
          <a:solidFill>
            <a:srgbClr val="C7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67712"/>
            <a:ext cx="10607040" cy="64008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Relevés manuels et ponctuels  —  </a:t>
            </a:r>
            <a:r>
              <a:rPr sz="1350" b="0" i="0">
                <a:solidFill>
                  <a:srgbClr val="333B47"/>
                </a:solidFill>
                <a:latin typeface="Calibri"/>
              </a:rPr>
              <a:t>Pas de suivi continu — l’état du trafic à l’instant présent est inconnu.</a:t>
            </a:r>
          </a:p>
        </p:txBody>
      </p:sp>
      <p:sp>
        <p:nvSpPr>
          <p:cNvPr id="10" name="Rectangle 9"/>
          <p:cNvSpPr/>
          <p:nvPr/>
        </p:nvSpPr>
        <p:spPr>
          <a:xfrm>
            <a:off x="548640" y="2999232"/>
            <a:ext cx="146304" cy="566928"/>
          </a:xfrm>
          <a:prstGeom prst="rect">
            <a:avLst/>
          </a:prstGeom>
          <a:solidFill>
            <a:srgbClr val="C7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80944"/>
            <a:ext cx="10607040" cy="64008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Google Maps consulté à la main  —  </a:t>
            </a:r>
            <a:r>
              <a:rPr sz="1350" b="0" i="0">
                <a:solidFill>
                  <a:srgbClr val="333B47"/>
                </a:solidFill>
                <a:latin typeface="Calibri"/>
              </a:rPr>
              <a:t>Donnée non historisée, non reproductible, dépendante de l’opérateur.</a:t>
            </a:r>
          </a:p>
        </p:txBody>
      </p:sp>
      <p:sp>
        <p:nvSpPr>
          <p:cNvPr id="12" name="Rectangle 11"/>
          <p:cNvSpPr/>
          <p:nvPr/>
        </p:nvSpPr>
        <p:spPr>
          <a:xfrm>
            <a:off x="548640" y="3712464"/>
            <a:ext cx="146304" cy="566928"/>
          </a:xfrm>
          <a:prstGeom prst="rect">
            <a:avLst/>
          </a:prstGeom>
          <a:solidFill>
            <a:srgbClr val="C7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694176"/>
            <a:ext cx="10607040" cy="64008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Aucune base horodatée  —  </a:t>
            </a:r>
            <a:r>
              <a:rPr sz="1350" b="0" i="0">
                <a:solidFill>
                  <a:srgbClr val="333B47"/>
                </a:solidFill>
                <a:latin typeface="Calibri"/>
              </a:rPr>
              <a:t>Impossible de comparer deux périodes ou de mesurer une tendance.</a:t>
            </a:r>
          </a:p>
        </p:txBody>
      </p:sp>
      <p:sp>
        <p:nvSpPr>
          <p:cNvPr id="14" name="Rectangle 13"/>
          <p:cNvSpPr/>
          <p:nvPr/>
        </p:nvSpPr>
        <p:spPr>
          <a:xfrm>
            <a:off x="548640" y="4425696"/>
            <a:ext cx="146304" cy="566928"/>
          </a:xfrm>
          <a:prstGeom prst="rect">
            <a:avLst/>
          </a:prstGeom>
          <a:solidFill>
            <a:srgbClr val="C7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407408"/>
            <a:ext cx="10607040" cy="64008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Contexte non capturé  —  </a:t>
            </a:r>
            <a:r>
              <a:rPr sz="1350" b="0" i="0">
                <a:solidFill>
                  <a:srgbClr val="333B47"/>
                </a:solidFill>
                <a:latin typeface="Calibri"/>
              </a:rPr>
              <a:t>Incidents, convois et congestions ponctuelles échappent à la mesure.</a:t>
            </a:r>
          </a:p>
        </p:txBody>
      </p:sp>
      <p:sp>
        <p:nvSpPr>
          <p:cNvPr id="16" name="Rectangle 15"/>
          <p:cNvSpPr/>
          <p:nvPr/>
        </p:nvSpPr>
        <p:spPr>
          <a:xfrm>
            <a:off x="548640" y="5138928"/>
            <a:ext cx="146304" cy="566928"/>
          </a:xfrm>
          <a:prstGeom prst="rect">
            <a:avLst/>
          </a:prstGeom>
          <a:solidFill>
            <a:srgbClr val="C7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120640"/>
            <a:ext cx="10607040" cy="64008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Restitution non cartographique  —  </a:t>
            </a:r>
            <a:r>
              <a:rPr sz="1350" b="0" i="0">
                <a:solidFill>
                  <a:srgbClr val="333B47"/>
                </a:solidFill>
                <a:latin typeface="Calibri"/>
              </a:rPr>
              <a:t>Difficile de voir les zones de congestion récurrentes.</a:t>
            </a:r>
          </a:p>
        </p:txBody>
      </p:sp>
      <p:sp>
        <p:nvSpPr>
          <p:cNvPr id="18" name="Rectangle 17"/>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20" name="TextBox 19"/>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515600" cy="548640"/>
          </a:xfrm>
          <a:prstGeom prst="rect">
            <a:avLst/>
          </a:prstGeom>
          <a:noFill/>
        </p:spPr>
        <p:txBody>
          <a:bodyPr wrap="square" anchor="t" lIns="45720" rIns="45720" tIns="18288" bIns="18288">
            <a:spAutoFit/>
          </a:bodyPr>
          <a:lstStyle/>
          <a:p>
            <a:pPr algn="l">
              <a:spcBef>
                <a:spcPts val="200"/>
              </a:spcBef>
              <a:spcAft>
                <a:spcPts val="0"/>
              </a:spcAft>
              <a:buNone/>
            </a:pPr>
            <a:r>
              <a:rPr sz="1500" b="1" i="0">
                <a:solidFill>
                  <a:srgbClr val="53B9E8"/>
                </a:solidFill>
                <a:latin typeface="Calibri"/>
              </a:rPr>
              <a:t>LA PROBLÉMATIQUE</a:t>
            </a:r>
          </a:p>
        </p:txBody>
      </p:sp>
      <p:sp>
        <p:nvSpPr>
          <p:cNvPr id="5" name="Rounded Rectangle 4"/>
          <p:cNvSpPr/>
          <p:nvPr/>
        </p:nvSpPr>
        <p:spPr>
          <a:xfrm>
            <a:off x="822960" y="1645920"/>
            <a:ext cx="10515600" cy="3108960"/>
          </a:xfrm>
          <a:prstGeom prst="roundRect">
            <a:avLst/>
          </a:prstGeom>
          <a:solidFill>
            <a:srgbClr val="173055"/>
          </a:solidFill>
          <a:ln w="15875">
            <a:solidFill>
              <a:srgbClr val="53B9E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spcBef>
                <a:spcPts val="200"/>
              </a:spcBef>
              <a:spcAft>
                <a:spcPts val="0"/>
              </a:spcAft>
              <a:buNone/>
            </a:pPr>
            <a:r>
              <a:rPr sz="2200" b="1" i="0">
                <a:solidFill>
                  <a:srgbClr val="FFFFFF"/>
                </a:solidFill>
                <a:latin typeface="Calibri"/>
              </a:rPr>
              <a:t>Comment concevoir une application web capable de mesurer, visualiser et analyser en temps réel les temps de traversée des axes routiers stratégiques desservant le Port d’Abidjan, afin d’identifier les congestions, de produire des indicateurs d’aide à la décision et d’améliorer la fluidité des flux logistiques ?</a:t>
            </a:r>
          </a:p>
        </p:txBody>
      </p:sp>
      <p:sp>
        <p:nvSpPr>
          <p:cNvPr id="6" name="TextBox 5"/>
          <p:cNvSpPr txBox="1"/>
          <p:nvPr/>
        </p:nvSpPr>
        <p:spPr>
          <a:xfrm>
            <a:off x="822960" y="5029200"/>
            <a:ext cx="10515600" cy="1280160"/>
          </a:xfrm>
          <a:prstGeom prst="rect">
            <a:avLst/>
          </a:prstGeom>
          <a:noFill/>
        </p:spPr>
        <p:txBody>
          <a:bodyPr wrap="square" anchor="t" lIns="45720" rIns="45720" tIns="18288" bIns="18288">
            <a:spAutoFit/>
          </a:bodyPr>
          <a:lstStyle/>
          <a:p>
            <a:pPr algn="ctr">
              <a:spcBef>
                <a:spcPts val="200"/>
              </a:spcBef>
              <a:spcAft>
                <a:spcPts val="0"/>
              </a:spcAft>
              <a:buNone/>
            </a:pPr>
            <a:r>
              <a:rPr sz="1400" b="0" i="0">
                <a:solidFill>
                  <a:srgbClr val="C3D5E8"/>
                </a:solidFill>
                <a:latin typeface="Calibri"/>
              </a:rPr>
              <a:t>Décomposée en 9 sous-problématiques (mesure, temps d’accès, cartographie, congestion, graphiques, automatisation, indicateurs, zones critiques, synergie terrain), chacune tracée jusqu’à une solution.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PÉRIMÈTRE</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3 axes, 6 tronçons dirigés, un temps de référence à 50 km/h</a:t>
            </a:r>
          </a:p>
        </p:txBody>
      </p:sp>
      <p:sp>
        <p:nvSpPr>
          <p:cNvPr id="7" name="Rectangle 6"/>
          <p:cNvSpPr/>
          <p:nvPr/>
        </p:nvSpPr>
        <p:spPr>
          <a:xfrm>
            <a:off x="640080" y="1737360"/>
            <a:ext cx="11064240" cy="50292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737360"/>
            <a:ext cx="457200" cy="50292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a:t>
            </a:r>
          </a:p>
        </p:txBody>
      </p:sp>
      <p:sp>
        <p:nvSpPr>
          <p:cNvPr id="9" name="TextBox 8"/>
          <p:cNvSpPr txBox="1"/>
          <p:nvPr/>
        </p:nvSpPr>
        <p:spPr>
          <a:xfrm>
            <a:off x="1280160" y="1737360"/>
            <a:ext cx="6309360" cy="50292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Axe</a:t>
            </a:r>
          </a:p>
        </p:txBody>
      </p:sp>
      <p:sp>
        <p:nvSpPr>
          <p:cNvPr id="10" name="TextBox 9"/>
          <p:cNvSpPr txBox="1"/>
          <p:nvPr/>
        </p:nvSpPr>
        <p:spPr>
          <a:xfrm>
            <a:off x="7680960" y="1737360"/>
            <a:ext cx="1645919" cy="50292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Distance</a:t>
            </a:r>
          </a:p>
        </p:txBody>
      </p:sp>
      <p:sp>
        <p:nvSpPr>
          <p:cNvPr id="11" name="TextBox 10"/>
          <p:cNvSpPr txBox="1"/>
          <p:nvPr/>
        </p:nvSpPr>
        <p:spPr>
          <a:xfrm>
            <a:off x="9418320" y="1737360"/>
            <a:ext cx="2286000" cy="50292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Temps réf. (50 km/h)</a:t>
            </a:r>
          </a:p>
        </p:txBody>
      </p:sp>
      <p:sp>
        <p:nvSpPr>
          <p:cNvPr id="12" name="Rectangle 11"/>
          <p:cNvSpPr/>
          <p:nvPr/>
        </p:nvSpPr>
        <p:spPr>
          <a:xfrm>
            <a:off x="640080" y="2240280"/>
            <a:ext cx="11064240" cy="566928"/>
          </a:xfrm>
          <a:prstGeom prst="rect">
            <a:avLst/>
          </a:prstGeom>
          <a:solidFill>
            <a:srgbClr val="FFFFFF"/>
          </a:solidFill>
          <a:ln w="6350">
            <a:solidFill>
              <a:srgbClr val="EAF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240280"/>
            <a:ext cx="457200" cy="566928"/>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333B47"/>
                </a:solidFill>
                <a:latin typeface="Calibri"/>
              </a:rPr>
              <a:t>1</a:t>
            </a:r>
          </a:p>
        </p:txBody>
      </p:sp>
      <p:sp>
        <p:nvSpPr>
          <p:cNvPr id="14" name="TextBox 13"/>
          <p:cNvSpPr txBox="1"/>
          <p:nvPr/>
        </p:nvSpPr>
        <p:spPr>
          <a:xfrm>
            <a:off x="1280160" y="2240280"/>
            <a:ext cx="6309360"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CARENA (Plateau) ↔ Pharmacie Palm Beach</a:t>
            </a:r>
          </a:p>
        </p:txBody>
      </p:sp>
      <p:sp>
        <p:nvSpPr>
          <p:cNvPr id="15" name="TextBox 14"/>
          <p:cNvSpPr txBox="1"/>
          <p:nvPr/>
        </p:nvSpPr>
        <p:spPr>
          <a:xfrm>
            <a:off x="7680960" y="2240280"/>
            <a:ext cx="1645919"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14,9 km</a:t>
            </a:r>
          </a:p>
        </p:txBody>
      </p:sp>
      <p:sp>
        <p:nvSpPr>
          <p:cNvPr id="16" name="TextBox 15"/>
          <p:cNvSpPr txBox="1"/>
          <p:nvPr/>
        </p:nvSpPr>
        <p:spPr>
          <a:xfrm>
            <a:off x="9418320" y="2240280"/>
            <a:ext cx="2286000"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17 min 53 s</a:t>
            </a:r>
          </a:p>
        </p:txBody>
      </p:sp>
      <p:sp>
        <p:nvSpPr>
          <p:cNvPr id="17" name="Rectangle 16"/>
          <p:cNvSpPr/>
          <p:nvPr/>
        </p:nvSpPr>
        <p:spPr>
          <a:xfrm>
            <a:off x="640080" y="2807208"/>
            <a:ext cx="11064240" cy="566928"/>
          </a:xfrm>
          <a:prstGeom prst="rect">
            <a:avLst/>
          </a:prstGeom>
          <a:solidFill>
            <a:srgbClr val="FFFFFF"/>
          </a:solidFill>
          <a:ln w="6350">
            <a:solidFill>
              <a:srgbClr val="EAF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19" y="2807208"/>
            <a:ext cx="457200" cy="566928"/>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333B47"/>
                </a:solidFill>
                <a:latin typeface="Calibri"/>
              </a:rPr>
              <a:t>2</a:t>
            </a:r>
          </a:p>
        </p:txBody>
      </p:sp>
      <p:sp>
        <p:nvSpPr>
          <p:cNvPr id="19" name="TextBox 18"/>
          <p:cNvSpPr txBox="1"/>
          <p:nvPr/>
        </p:nvSpPr>
        <p:spPr>
          <a:xfrm>
            <a:off x="1280160" y="2807208"/>
            <a:ext cx="6309360"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Toyota CFAO (Treichville) ↔ Pharmacie Palm Beach</a:t>
            </a:r>
          </a:p>
        </p:txBody>
      </p:sp>
      <p:sp>
        <p:nvSpPr>
          <p:cNvPr id="20" name="TextBox 19"/>
          <p:cNvSpPr txBox="1"/>
          <p:nvPr/>
        </p:nvSpPr>
        <p:spPr>
          <a:xfrm>
            <a:off x="7680960" y="2807208"/>
            <a:ext cx="1645919"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8,0 km</a:t>
            </a:r>
          </a:p>
        </p:txBody>
      </p:sp>
      <p:sp>
        <p:nvSpPr>
          <p:cNvPr id="21" name="TextBox 20"/>
          <p:cNvSpPr txBox="1"/>
          <p:nvPr/>
        </p:nvSpPr>
        <p:spPr>
          <a:xfrm>
            <a:off x="9418320" y="2807208"/>
            <a:ext cx="2286000"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9 min 36 s</a:t>
            </a:r>
          </a:p>
        </p:txBody>
      </p:sp>
      <p:sp>
        <p:nvSpPr>
          <p:cNvPr id="22" name="Rectangle 21"/>
          <p:cNvSpPr/>
          <p:nvPr/>
        </p:nvSpPr>
        <p:spPr>
          <a:xfrm>
            <a:off x="640080" y="3374136"/>
            <a:ext cx="11064240" cy="566928"/>
          </a:xfrm>
          <a:prstGeom prst="rect">
            <a:avLst/>
          </a:prstGeom>
          <a:solidFill>
            <a:srgbClr val="FFFFFF"/>
          </a:solidFill>
          <a:ln w="6350">
            <a:solidFill>
              <a:srgbClr val="EAF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19" y="3374136"/>
            <a:ext cx="457200" cy="566928"/>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333B47"/>
                </a:solidFill>
                <a:latin typeface="Calibri"/>
              </a:rPr>
              <a:t>3</a:t>
            </a:r>
          </a:p>
        </p:txBody>
      </p:sp>
      <p:sp>
        <p:nvSpPr>
          <p:cNvPr id="24" name="TextBox 23"/>
          <p:cNvSpPr txBox="1"/>
          <p:nvPr/>
        </p:nvSpPr>
        <p:spPr>
          <a:xfrm>
            <a:off x="1280160" y="3374136"/>
            <a:ext cx="6309360"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Agence SODECI (Zone 4) ↔ Pharmacie Palm Beach</a:t>
            </a:r>
          </a:p>
        </p:txBody>
      </p:sp>
      <p:sp>
        <p:nvSpPr>
          <p:cNvPr id="25" name="TextBox 24"/>
          <p:cNvSpPr txBox="1"/>
          <p:nvPr/>
        </p:nvSpPr>
        <p:spPr>
          <a:xfrm>
            <a:off x="7680960" y="3374136"/>
            <a:ext cx="1645919"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8,3 km</a:t>
            </a:r>
          </a:p>
        </p:txBody>
      </p:sp>
      <p:sp>
        <p:nvSpPr>
          <p:cNvPr id="26" name="TextBox 25"/>
          <p:cNvSpPr txBox="1"/>
          <p:nvPr/>
        </p:nvSpPr>
        <p:spPr>
          <a:xfrm>
            <a:off x="9418320" y="3374136"/>
            <a:ext cx="2286000" cy="566928"/>
          </a:xfrm>
          <a:prstGeom prst="rect">
            <a:avLst/>
          </a:prstGeom>
          <a:noFill/>
        </p:spPr>
        <p:txBody>
          <a:bodyPr wrap="square" anchor="ctr" lIns="45720" rIns="45720" tIns="18288" bIns="18288">
            <a:spAutoFit/>
          </a:bodyPr>
          <a:lstStyle/>
          <a:p>
            <a:pPr algn="l">
              <a:spcBef>
                <a:spcPts val="200"/>
              </a:spcBef>
              <a:spcAft>
                <a:spcPts val="0"/>
              </a:spcAft>
              <a:buNone/>
            </a:pPr>
            <a:r>
              <a:rPr sz="1300" b="0" i="0">
                <a:solidFill>
                  <a:srgbClr val="333B47"/>
                </a:solidFill>
                <a:latin typeface="Calibri"/>
              </a:rPr>
              <a:t>9 min 58 s</a:t>
            </a:r>
          </a:p>
        </p:txBody>
      </p:sp>
      <p:sp>
        <p:nvSpPr>
          <p:cNvPr id="27" name="Rounded Rectangle 26"/>
          <p:cNvSpPr/>
          <p:nvPr/>
        </p:nvSpPr>
        <p:spPr>
          <a:xfrm>
            <a:off x="640080" y="3977639"/>
            <a:ext cx="5394960" cy="2286000"/>
          </a:xfrm>
          <a:prstGeom prst="roundRect">
            <a:avLst/>
          </a:prstGeom>
          <a:solidFill>
            <a:srgbClr val="F3F7FC"/>
          </a:solidFill>
          <a:ln w="15875">
            <a:solidFill>
              <a:srgbClr val="2E6C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buNone/>
            </a:pPr>
            <a:r>
              <a:rPr sz="1200" b="1" i="0">
                <a:solidFill>
                  <a:srgbClr val="2E6CB2"/>
                </a:solidFill>
                <a:latin typeface="Calibri"/>
              </a:rPr>
              <a:t>▢  CAPTURE D’ÉCRAN</a:t>
            </a:r>
          </a:p>
          <a:p>
            <a:pPr algn="ctr">
              <a:spcBef>
                <a:spcPts val="200"/>
              </a:spcBef>
              <a:spcAft>
                <a:spcPts val="0"/>
              </a:spcAft>
              <a:buNone/>
            </a:pPr>
            <a:r>
              <a:rPr sz="1050" b="0" i="1">
                <a:solidFill>
                  <a:srgbClr val="5A5A5A"/>
                </a:solidFill>
                <a:latin typeface="Calibri"/>
              </a:rPr>
              <a:t>Carte d’accueil — les 6 tronçons colorés + marqueurs POI (C, T, S, P)</a:t>
            </a:r>
          </a:p>
        </p:txBody>
      </p:sp>
      <p:sp>
        <p:nvSpPr>
          <p:cNvPr id="28" name="TextBox 27"/>
          <p:cNvSpPr txBox="1"/>
          <p:nvPr/>
        </p:nvSpPr>
        <p:spPr>
          <a:xfrm>
            <a:off x="6263640" y="4069080"/>
            <a:ext cx="5303520" cy="2103120"/>
          </a:xfrm>
          <a:prstGeom prst="rect">
            <a:avLst/>
          </a:prstGeom>
          <a:noFill/>
        </p:spPr>
        <p:txBody>
          <a:bodyPr wrap="square" anchor="ctr" lIns="45720" rIns="45720" tIns="18288" bIns="18288">
            <a:spAutoFit/>
          </a:bodyPr>
          <a:lstStyle/>
          <a:p>
            <a:pPr algn="l">
              <a:spcBef>
                <a:spcPts val="200"/>
              </a:spcBef>
              <a:spcAft>
                <a:spcPts val="800"/>
              </a:spcAft>
              <a:buNone/>
            </a:pPr>
            <a:r>
              <a:rPr sz="1500" b="0" i="0">
                <a:solidFill>
                  <a:srgbClr val="333B47"/>
                </a:solidFill>
                <a:latin typeface="Calibri"/>
              </a:rPr>
              <a:t>Chaque axe est mesuré en aller ET retour : les deux sens peuvent avoir des temps très différents selon l’heure et le flux.</a:t>
            </a:r>
          </a:p>
          <a:p>
            <a:pPr algn="l">
              <a:spcBef>
                <a:spcPts val="200"/>
              </a:spcBef>
              <a:spcAft>
                <a:spcPts val="0"/>
              </a:spcAft>
              <a:buNone/>
            </a:pPr>
            <a:r>
              <a:rPr sz="1500" b="0" i="0">
                <a:solidFill>
                  <a:srgbClr val="333B47"/>
                </a:solidFill>
                <a:latin typeface="Calibri"/>
              </a:rPr>
              <a:t>Le temps de référence à 50 km/h sert de mètre-étalon pour qualifier chaque mesure.</a:t>
            </a:r>
          </a:p>
        </p:txBody>
      </p:sp>
      <p:sp>
        <p:nvSpPr>
          <p:cNvPr id="29" name="Rectangle 28"/>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31" name="TextBox 30"/>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nchor="t" lIns="45720" rIns="45720" tIns="18288" bIns="18288">
            <a:spAutoFit/>
          </a:bodyPr>
          <a:lstStyle/>
          <a:p>
            <a:pPr algn="l">
              <a:spcBef>
                <a:spcPts val="200"/>
              </a:spcBef>
              <a:spcAft>
                <a:spcPts val="0"/>
              </a:spcAft>
              <a:buNone/>
            </a:pPr>
            <a:r>
              <a:rPr sz="4000" b="1" i="0">
                <a:solidFill>
                  <a:srgbClr val="53B9E8"/>
                </a:solidFill>
                <a:latin typeface="Calibri"/>
              </a:rPr>
              <a:t>2</a:t>
            </a:r>
          </a:p>
        </p:txBody>
      </p:sp>
      <p:sp>
        <p:nvSpPr>
          <p:cNvPr id="5" name="TextBox 4"/>
          <p:cNvSpPr txBox="1"/>
          <p:nvPr/>
        </p:nvSpPr>
        <p:spPr>
          <a:xfrm>
            <a:off x="822960" y="3063240"/>
            <a:ext cx="10515600" cy="1463040"/>
          </a:xfrm>
          <a:prstGeom prst="rect">
            <a:avLst/>
          </a:prstGeom>
          <a:noFill/>
        </p:spPr>
        <p:txBody>
          <a:bodyPr wrap="square" anchor="t" lIns="45720" rIns="45720" tIns="18288" bIns="18288">
            <a:spAutoFit/>
          </a:bodyPr>
          <a:lstStyle/>
          <a:p>
            <a:pPr algn="l">
              <a:spcBef>
                <a:spcPts val="200"/>
              </a:spcBef>
              <a:spcAft>
                <a:spcPts val="0"/>
              </a:spcAft>
              <a:buNone/>
            </a:pPr>
            <a:r>
              <a:rPr sz="3400" b="1" i="0">
                <a:solidFill>
                  <a:srgbClr val="FFFFFF"/>
                </a:solidFill>
                <a:latin typeface="Calibri"/>
              </a:rPr>
              <a:t>Les problèmes humains et nos solutions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PROBLÈMES HUMAINS → SOLUTIONS</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Pour le transporteur et le gestionnaire</a:t>
            </a:r>
          </a:p>
        </p:txBody>
      </p:sp>
      <p:sp>
        <p:nvSpPr>
          <p:cNvPr id="7" name="Rounded Rectangle 6"/>
          <p:cNvSpPr/>
          <p:nvPr/>
        </p:nvSpPr>
        <p:spPr>
          <a:xfrm>
            <a:off x="548640" y="1691640"/>
            <a:ext cx="11091672" cy="2221991"/>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91640"/>
            <a:ext cx="91440" cy="2221991"/>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01368"/>
            <a:ext cx="10607040" cy="2057400"/>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Le transporteur ne sait pas quand partir</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il part au mauvais moment et s’immobilise dans un embouteillage, perdant des heures de rotation.</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la page Heure optimale donne les créneaux les plus rapides par tronçon ; la carte montre l’état en direct.</a:t>
            </a:r>
          </a:p>
        </p:txBody>
      </p:sp>
      <p:sp>
        <p:nvSpPr>
          <p:cNvPr id="10" name="Rounded Rectangle 9"/>
          <p:cNvSpPr/>
          <p:nvPr/>
        </p:nvSpPr>
        <p:spPr>
          <a:xfrm>
            <a:off x="548640" y="4023360"/>
            <a:ext cx="11091672" cy="2221991"/>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4023360"/>
            <a:ext cx="91440" cy="2221991"/>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33088"/>
            <a:ext cx="10607040" cy="2057400"/>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Le gestionnaire n’a aucune vue d’ensemble</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il découvre les congestions a posteriori, par des remontées éparses.</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la carte et son panneau latéral offrent un tableau de bord instantané, mis à jour en direct (WebSocket).</a:t>
            </a:r>
          </a:p>
        </p:txBody>
      </p:sp>
      <p:sp>
        <p:nvSpPr>
          <p:cNvPr id="13" name="Rectangle 12"/>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5" name="TextBox 14"/>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PROBLÈMES HUMAINS → SOLUTIONS</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Produire le rapport et localiser la congestion</a:t>
            </a:r>
          </a:p>
        </p:txBody>
      </p:sp>
      <p:sp>
        <p:nvSpPr>
          <p:cNvPr id="7" name="Rounded Rectangle 6"/>
          <p:cNvSpPr/>
          <p:nvPr/>
        </p:nvSpPr>
        <p:spPr>
          <a:xfrm>
            <a:off x="548640" y="1691640"/>
            <a:ext cx="11091672" cy="2221991"/>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91640"/>
            <a:ext cx="91440" cy="2221991"/>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01368"/>
            <a:ext cx="10607040" cy="2057400"/>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Produire le rapport DEESP est long et manuel</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relevé, saisie et mise en forme des tableaux et graphiques demandaient un travail considérable.</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la page Rapport DEESP reconstitue automatiquement tableaux et graphiques officiels ; Tableau 16 en PDF.</a:t>
            </a:r>
          </a:p>
        </p:txBody>
      </p:sp>
      <p:sp>
        <p:nvSpPr>
          <p:cNvPr id="10" name="Rounded Rectangle 9"/>
          <p:cNvSpPr/>
          <p:nvPr/>
        </p:nvSpPr>
        <p:spPr>
          <a:xfrm>
            <a:off x="548640" y="4023360"/>
            <a:ext cx="11091672" cy="2221991"/>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4023360"/>
            <a:ext cx="91440" cy="2221991"/>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33088"/>
            <a:ext cx="10607040" cy="2057400"/>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On ignore OÙ exactement se situe la congestion</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savoir qu’un axe de 15 km est « congestionné » ne dit pas si c’est un pont ou un carrefour précis.</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le découpage en tronçons codifiés (T1A, T1B…) identifie précisément le point réellement congestionné.</a:t>
            </a:r>
          </a:p>
        </p:txBody>
      </p:sp>
      <p:sp>
        <p:nvSpPr>
          <p:cNvPr id="13" name="Rectangle 12"/>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5" name="TextBox 14"/>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PROBLÈMES HUMAINS → SOLUTIONS</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Anticiper, décider, prouver</a:t>
            </a:r>
          </a:p>
        </p:txBody>
      </p:sp>
      <p:sp>
        <p:nvSpPr>
          <p:cNvPr id="7" name="Rounded Rectangle 6"/>
          <p:cNvSpPr/>
          <p:nvPr/>
        </p:nvSpPr>
        <p:spPr>
          <a:xfrm>
            <a:off x="548640" y="1691640"/>
            <a:ext cx="11091672" cy="13716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91640"/>
            <a:ext cx="91440" cy="137160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01368"/>
            <a:ext cx="10607040" cy="1207008"/>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Les incidents ne sont pas anticipés</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accident, route barrée ou travaux ne remontent pas au port à temps.</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un robot scrute la presse toutes les 30 min, géolocalise les incidents et les affiche sur la carte.</a:t>
            </a:r>
          </a:p>
        </p:txBody>
      </p:sp>
      <p:sp>
        <p:nvSpPr>
          <p:cNvPr id="10" name="Rounded Rectangle 9"/>
          <p:cNvSpPr/>
          <p:nvPr/>
        </p:nvSpPr>
        <p:spPr>
          <a:xfrm>
            <a:off x="548640" y="3172968"/>
            <a:ext cx="11091672" cy="13716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3172968"/>
            <a:ext cx="91440" cy="137160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82696"/>
            <a:ext cx="10607040" cy="1207008"/>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Les décisions manquent de preuves chiffrées</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fluidifier, relocaliser ou réparer sans données objectives expose à des choix contestables.</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indicateurs quantifiés et historisés : taux de congestion, temps min/moyen/max, évolution pluriannuelle.</a:t>
            </a:r>
          </a:p>
        </p:txBody>
      </p:sp>
      <p:sp>
        <p:nvSpPr>
          <p:cNvPr id="13" name="Rounded Rectangle 12"/>
          <p:cNvSpPr/>
          <p:nvPr/>
        </p:nvSpPr>
        <p:spPr>
          <a:xfrm>
            <a:off x="548640" y="4654296"/>
            <a:ext cx="11091672" cy="13716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4654296"/>
            <a:ext cx="91440" cy="137160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764024"/>
            <a:ext cx="10607040" cy="1207008"/>
          </a:xfrm>
          <a:prstGeom prst="rect">
            <a:avLst/>
          </a:prstGeom>
          <a:noFill/>
        </p:spPr>
        <p:txBody>
          <a:bodyPr wrap="square" anchor="t" lIns="45720" rIns="45720" tIns="18288" bIns="18288">
            <a:spAutoFit/>
          </a:bodyPr>
          <a:lstStyle/>
          <a:p>
            <a:pPr algn="l">
              <a:spcBef>
                <a:spcPts val="200"/>
              </a:spcBef>
              <a:spcAft>
                <a:spcPts val="300"/>
              </a:spcAft>
              <a:buNone/>
            </a:pPr>
            <a:r>
              <a:rPr sz="1550" b="1" i="0">
                <a:solidFill>
                  <a:srgbClr val="0F2240"/>
                </a:solidFill>
                <a:latin typeface="Calibri"/>
              </a:rPr>
              <a:t>La mesure automatique doit être prouvée</a:t>
            </a:r>
          </a:p>
          <a:p>
            <a:pPr algn="l">
              <a:spcBef>
                <a:spcPts val="200"/>
              </a:spcBef>
              <a:spcAft>
                <a:spcPts val="200"/>
              </a:spcAft>
              <a:buNone/>
            </a:pPr>
            <a:r>
              <a:rPr sz="1250" b="1" i="0">
                <a:solidFill>
                  <a:srgbClr val="C73E3E"/>
                </a:solidFill>
                <a:latin typeface="Calibri"/>
              </a:rPr>
              <a:t>Problème :  </a:t>
            </a:r>
            <a:r>
              <a:rPr sz="1250" b="0" i="0">
                <a:solidFill>
                  <a:srgbClr val="333B47"/>
                </a:solidFill>
                <a:latin typeface="Calibri"/>
              </a:rPr>
              <a:t>une donnée d’API peut être mise en doute face à la réalité du terrain.</a:t>
            </a:r>
          </a:p>
          <a:p>
            <a:pPr algn="l">
              <a:spcBef>
                <a:spcPts val="200"/>
              </a:spcBef>
              <a:spcAft>
                <a:spcPts val="0"/>
              </a:spcAft>
              <a:buNone/>
            </a:pPr>
            <a:r>
              <a:rPr sz="1250" b="1" i="0">
                <a:solidFill>
                  <a:srgbClr val="1E8E52"/>
                </a:solidFill>
                <a:latin typeface="Calibri"/>
              </a:rPr>
              <a:t>Solution :  </a:t>
            </a:r>
            <a:r>
              <a:rPr sz="1250" b="0" i="0">
                <a:solidFill>
                  <a:srgbClr val="333B47"/>
                </a:solidFill>
                <a:latin typeface="Calibri"/>
              </a:rPr>
              <a:t>la page Fiabilité confronte de vrais relevés GPS aux mesures Google et mesure l’écart — mesure défendable.</a:t>
            </a:r>
          </a:p>
        </p:txBody>
      </p:sp>
      <p:sp>
        <p:nvSpPr>
          <p:cNvPr id="16" name="Rectangle 15"/>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8" name="TextBox 17"/>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COMMENT ÇA MARCHE</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Une collecte fiable, sans jamais inventer de donnée</a:t>
            </a:r>
          </a:p>
        </p:txBody>
      </p:sp>
      <p:sp>
        <p:nvSpPr>
          <p:cNvPr id="7" name="Rounded Rectangle 6"/>
          <p:cNvSpPr/>
          <p:nvPr/>
        </p:nvSpPr>
        <p:spPr>
          <a:xfrm>
            <a:off x="548640" y="1737360"/>
            <a:ext cx="3611880" cy="22860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37360"/>
            <a:ext cx="3611880" cy="457200"/>
          </a:xfrm>
          <a:prstGeom prst="round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55648"/>
            <a:ext cx="3291840" cy="45720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Niveau 1</a:t>
            </a:r>
          </a:p>
        </p:txBody>
      </p:sp>
      <p:sp>
        <p:nvSpPr>
          <p:cNvPr id="10" name="TextBox 9"/>
          <p:cNvSpPr txBox="1"/>
          <p:nvPr/>
        </p:nvSpPr>
        <p:spPr>
          <a:xfrm>
            <a:off x="731520" y="2331720"/>
            <a:ext cx="3291840" cy="155448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Google Routes API</a:t>
            </a:r>
          </a:p>
          <a:p>
            <a:pPr algn="l">
              <a:spcBef>
                <a:spcPts val="200"/>
              </a:spcBef>
              <a:spcAft>
                <a:spcPts val="0"/>
              </a:spcAft>
              <a:buNone/>
            </a:pPr>
            <a:r>
              <a:rPr sz="1250" b="0" i="0">
                <a:solidFill>
                  <a:srgbClr val="333B47"/>
                </a:solidFill>
                <a:latin typeface="Calibri"/>
              </a:rPr>
              <a:t>Source principale du temps réel avec trafic (couleurs Maps).</a:t>
            </a:r>
          </a:p>
        </p:txBody>
      </p:sp>
      <p:sp>
        <p:nvSpPr>
          <p:cNvPr id="11" name="Chevron 10"/>
          <p:cNvSpPr/>
          <p:nvPr/>
        </p:nvSpPr>
        <p:spPr>
          <a:xfrm>
            <a:off x="3995927" y="2651760"/>
            <a:ext cx="256032" cy="365760"/>
          </a:xfrm>
          <a:prstGeom prst="chevron">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59" y="1737360"/>
            <a:ext cx="3611880" cy="22860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51959" y="1737360"/>
            <a:ext cx="3611880" cy="457200"/>
          </a:xfrm>
          <a:prstGeom prst="round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755648"/>
            <a:ext cx="3291840" cy="45720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Niveau 2</a:t>
            </a:r>
          </a:p>
        </p:txBody>
      </p:sp>
      <p:sp>
        <p:nvSpPr>
          <p:cNvPr id="15" name="TextBox 14"/>
          <p:cNvSpPr txBox="1"/>
          <p:nvPr/>
        </p:nvSpPr>
        <p:spPr>
          <a:xfrm>
            <a:off x="4434840" y="2331720"/>
            <a:ext cx="3291840" cy="155448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Prédicteur interne</a:t>
            </a:r>
          </a:p>
          <a:p>
            <a:pPr algn="l">
              <a:spcBef>
                <a:spcPts val="200"/>
              </a:spcBef>
              <a:spcAft>
                <a:spcPts val="0"/>
              </a:spcAft>
              <a:buNone/>
            </a:pPr>
            <a:r>
              <a:rPr sz="1250" b="0" i="0">
                <a:solidFill>
                  <a:srgbClr val="333B47"/>
                </a:solidFill>
                <a:latin typeface="Calibri"/>
              </a:rPr>
              <a:t>Estimation depuis l’historique du même type de jour.</a:t>
            </a:r>
          </a:p>
        </p:txBody>
      </p:sp>
      <p:sp>
        <p:nvSpPr>
          <p:cNvPr id="16" name="Chevron 15"/>
          <p:cNvSpPr/>
          <p:nvPr/>
        </p:nvSpPr>
        <p:spPr>
          <a:xfrm>
            <a:off x="7699248" y="2651760"/>
            <a:ext cx="256032" cy="365760"/>
          </a:xfrm>
          <a:prstGeom prst="chevron">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55279" y="1737360"/>
            <a:ext cx="3611880" cy="228600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55279" y="1737360"/>
            <a:ext cx="3611880" cy="457200"/>
          </a:xfrm>
          <a:prstGeom prst="round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59" y="1755648"/>
            <a:ext cx="3291840" cy="457200"/>
          </a:xfrm>
          <a:prstGeom prst="rect">
            <a:avLst/>
          </a:prstGeom>
          <a:noFill/>
        </p:spPr>
        <p:txBody>
          <a:bodyPr wrap="square" anchor="ctr" lIns="45720" rIns="45720" tIns="18288" bIns="18288">
            <a:spAutoFit/>
          </a:bodyPr>
          <a:lstStyle/>
          <a:p>
            <a:pPr algn="l">
              <a:spcBef>
                <a:spcPts val="200"/>
              </a:spcBef>
              <a:spcAft>
                <a:spcPts val="0"/>
              </a:spcAft>
              <a:buNone/>
            </a:pPr>
            <a:r>
              <a:rPr sz="1300" b="1" i="0">
                <a:solidFill>
                  <a:srgbClr val="FFFFFF"/>
                </a:solidFill>
                <a:latin typeface="Calibri"/>
              </a:rPr>
              <a:t>Niveau 3</a:t>
            </a:r>
          </a:p>
        </p:txBody>
      </p:sp>
      <p:sp>
        <p:nvSpPr>
          <p:cNvPr id="20" name="TextBox 19"/>
          <p:cNvSpPr txBox="1"/>
          <p:nvPr/>
        </p:nvSpPr>
        <p:spPr>
          <a:xfrm>
            <a:off x="8138159" y="2331720"/>
            <a:ext cx="3291840" cy="155448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Référence 50 km/h</a:t>
            </a:r>
          </a:p>
          <a:p>
            <a:pPr algn="l">
              <a:spcBef>
                <a:spcPts val="200"/>
              </a:spcBef>
              <a:spcAft>
                <a:spcPts val="0"/>
              </a:spcAft>
              <a:buNone/>
            </a:pPr>
            <a:r>
              <a:rPr sz="1250" b="0" i="0">
                <a:solidFill>
                  <a:srgbClr val="333B47"/>
                </a:solidFill>
                <a:latin typeface="Calibri"/>
              </a:rPr>
              <a:t>Repli déterministe calculé depuis la distance.</a:t>
            </a:r>
          </a:p>
        </p:txBody>
      </p:sp>
      <p:sp>
        <p:nvSpPr>
          <p:cNvPr id="21" name="Rounded Rectangle 20"/>
          <p:cNvSpPr/>
          <p:nvPr/>
        </p:nvSpPr>
        <p:spPr>
          <a:xfrm>
            <a:off x="548640" y="4251960"/>
            <a:ext cx="11091672" cy="960120"/>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4251960"/>
            <a:ext cx="91440" cy="960120"/>
          </a:xfrm>
          <a:prstGeom prst="round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379976"/>
            <a:ext cx="10680192" cy="73152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Intégrité des données</a:t>
            </a:r>
          </a:p>
          <a:p>
            <a:pPr algn="l">
              <a:spcBef>
                <a:spcPts val="200"/>
              </a:spcBef>
              <a:spcAft>
                <a:spcPts val="300"/>
              </a:spcAft>
              <a:buNone/>
            </a:pPr>
            <a:r>
              <a:rPr sz="1300" b="1" i="0">
                <a:solidFill>
                  <a:srgbClr val="0F2240"/>
                </a:solidFill>
                <a:latin typeface="Calibri"/>
              </a:rPr>
              <a:t>Si les trois niveaux échouent, on enregistre un « trou de mesure ». </a:t>
            </a:r>
            <a:r>
              <a:rPr sz="1300" b="0" i="0">
                <a:solidFill>
                  <a:srgbClr val="333B47"/>
                </a:solidFill>
                <a:latin typeface="Calibri"/>
              </a:rPr>
              <a:t>Aucune valeur n’est jamais inventée ni interpolée — c’est la règle d’or du projet.</a:t>
            </a:r>
          </a:p>
        </p:txBody>
      </p:sp>
      <p:sp>
        <p:nvSpPr>
          <p:cNvPr id="24" name="Rectangle 23"/>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26" name="TextBox 25"/>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MÉTHODE DEESP</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La congestion lue directement sur les couleurs Google Maps</a:t>
            </a:r>
          </a:p>
        </p:txBody>
      </p:sp>
      <p:sp>
        <p:nvSpPr>
          <p:cNvPr id="7" name="Rounded Rectangle 6"/>
          <p:cNvSpPr/>
          <p:nvPr/>
        </p:nvSpPr>
        <p:spPr>
          <a:xfrm>
            <a:off x="548640" y="1783080"/>
            <a:ext cx="2724912" cy="210312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83080"/>
            <a:ext cx="2724912" cy="502920"/>
          </a:xfrm>
          <a:prstGeom prst="round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01368"/>
            <a:ext cx="2468880" cy="502920"/>
          </a:xfrm>
          <a:prstGeom prst="rect">
            <a:avLst/>
          </a:prstGeom>
          <a:noFill/>
        </p:spPr>
        <p:txBody>
          <a:bodyPr wrap="square" anchor="ctr" lIns="45720" rIns="45720" tIns="18288" bIns="18288">
            <a:spAutoFit/>
          </a:bodyPr>
          <a:lstStyle/>
          <a:p>
            <a:pPr algn="l">
              <a:spcBef>
                <a:spcPts val="200"/>
              </a:spcBef>
              <a:spcAft>
                <a:spcPts val="0"/>
              </a:spcAft>
              <a:buNone/>
            </a:pPr>
            <a:r>
              <a:rPr sz="1250" b="1" i="0">
                <a:solidFill>
                  <a:srgbClr val="FFFFFF"/>
                </a:solidFill>
                <a:latin typeface="Calibri"/>
              </a:rPr>
              <a:t>Vert — fluide</a:t>
            </a:r>
          </a:p>
        </p:txBody>
      </p:sp>
      <p:sp>
        <p:nvSpPr>
          <p:cNvPr id="10" name="TextBox 9"/>
          <p:cNvSpPr txBox="1"/>
          <p:nvPr/>
        </p:nvSpPr>
        <p:spPr>
          <a:xfrm>
            <a:off x="685800" y="2423160"/>
            <a:ext cx="2468880" cy="1371600"/>
          </a:xfrm>
          <a:prstGeom prst="rect">
            <a:avLst/>
          </a:prstGeom>
          <a:noFill/>
        </p:spPr>
        <p:txBody>
          <a:bodyPr wrap="square" anchor="t" lIns="45720" rIns="45720" tIns="18288" bIns="18288">
            <a:spAutoFit/>
          </a:bodyPr>
          <a:lstStyle/>
          <a:p>
            <a:pPr algn="l">
              <a:spcBef>
                <a:spcPts val="200"/>
              </a:spcBef>
              <a:spcAft>
                <a:spcPts val="0"/>
              </a:spcAft>
              <a:buNone/>
            </a:pPr>
            <a:r>
              <a:rPr sz="1200" b="0" i="0">
                <a:solidFill>
                  <a:srgbClr val="333B47"/>
                </a:solidFill>
                <a:latin typeface="Calibri"/>
              </a:rPr>
              <a:t>Circulation normale.</a:t>
            </a:r>
          </a:p>
        </p:txBody>
      </p:sp>
      <p:sp>
        <p:nvSpPr>
          <p:cNvPr id="11" name="Rounded Rectangle 10"/>
          <p:cNvSpPr/>
          <p:nvPr/>
        </p:nvSpPr>
        <p:spPr>
          <a:xfrm>
            <a:off x="3346704" y="1783080"/>
            <a:ext cx="2724912" cy="210312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46704" y="1783080"/>
            <a:ext cx="2724912" cy="502920"/>
          </a:xfrm>
          <a:prstGeom prst="roundRect">
            <a:avLst/>
          </a:prstGeom>
          <a:solidFill>
            <a:srgbClr val="C98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3864" y="1801368"/>
            <a:ext cx="2468880" cy="502920"/>
          </a:xfrm>
          <a:prstGeom prst="rect">
            <a:avLst/>
          </a:prstGeom>
          <a:noFill/>
        </p:spPr>
        <p:txBody>
          <a:bodyPr wrap="square" anchor="ctr" lIns="45720" rIns="45720" tIns="18288" bIns="18288">
            <a:spAutoFit/>
          </a:bodyPr>
          <a:lstStyle/>
          <a:p>
            <a:pPr algn="l">
              <a:spcBef>
                <a:spcPts val="200"/>
              </a:spcBef>
              <a:spcAft>
                <a:spcPts val="0"/>
              </a:spcAft>
              <a:buNone/>
            </a:pPr>
            <a:r>
              <a:rPr sz="1250" b="1" i="0">
                <a:solidFill>
                  <a:srgbClr val="FFFFFF"/>
                </a:solidFill>
                <a:latin typeface="Calibri"/>
              </a:rPr>
              <a:t>Orange — SLOW</a:t>
            </a:r>
          </a:p>
        </p:txBody>
      </p:sp>
      <p:sp>
        <p:nvSpPr>
          <p:cNvPr id="14" name="TextBox 13"/>
          <p:cNvSpPr txBox="1"/>
          <p:nvPr/>
        </p:nvSpPr>
        <p:spPr>
          <a:xfrm>
            <a:off x="3483864" y="2423160"/>
            <a:ext cx="2468880" cy="1371600"/>
          </a:xfrm>
          <a:prstGeom prst="rect">
            <a:avLst/>
          </a:prstGeom>
          <a:noFill/>
        </p:spPr>
        <p:txBody>
          <a:bodyPr wrap="square" anchor="t" lIns="45720" rIns="45720" tIns="18288" bIns="18288">
            <a:spAutoFit/>
          </a:bodyPr>
          <a:lstStyle/>
          <a:p>
            <a:pPr algn="l">
              <a:spcBef>
                <a:spcPts val="200"/>
              </a:spcBef>
              <a:spcAft>
                <a:spcPts val="0"/>
              </a:spcAft>
              <a:buNone/>
            </a:pPr>
            <a:r>
              <a:rPr sz="1200" b="0" i="0">
                <a:solidFill>
                  <a:srgbClr val="333B47"/>
                </a:solidFill>
                <a:latin typeface="Calibri"/>
              </a:rPr>
              <a:t>Congestionné si ≥ 50 % du tronçon.</a:t>
            </a:r>
          </a:p>
        </p:txBody>
      </p:sp>
      <p:sp>
        <p:nvSpPr>
          <p:cNvPr id="15" name="Rounded Rectangle 14"/>
          <p:cNvSpPr/>
          <p:nvPr/>
        </p:nvSpPr>
        <p:spPr>
          <a:xfrm>
            <a:off x="6144768" y="1783080"/>
            <a:ext cx="2724912" cy="210312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44768" y="1783080"/>
            <a:ext cx="2724912" cy="502920"/>
          </a:xfrm>
          <a:prstGeom prst="roundRect">
            <a:avLst/>
          </a:prstGeom>
          <a:solidFill>
            <a:srgbClr val="C7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8" y="1801368"/>
            <a:ext cx="2468880" cy="502920"/>
          </a:xfrm>
          <a:prstGeom prst="rect">
            <a:avLst/>
          </a:prstGeom>
          <a:noFill/>
        </p:spPr>
        <p:txBody>
          <a:bodyPr wrap="square" anchor="ctr" lIns="45720" rIns="45720" tIns="18288" bIns="18288">
            <a:spAutoFit/>
          </a:bodyPr>
          <a:lstStyle/>
          <a:p>
            <a:pPr algn="l">
              <a:spcBef>
                <a:spcPts val="200"/>
              </a:spcBef>
              <a:spcAft>
                <a:spcPts val="0"/>
              </a:spcAft>
              <a:buNone/>
            </a:pPr>
            <a:r>
              <a:rPr sz="1250" b="1" i="0">
                <a:solidFill>
                  <a:srgbClr val="FFFFFF"/>
                </a:solidFill>
                <a:latin typeface="Calibri"/>
              </a:rPr>
              <a:t>Rouge — TRAFFIC_JAM</a:t>
            </a:r>
          </a:p>
        </p:txBody>
      </p:sp>
      <p:sp>
        <p:nvSpPr>
          <p:cNvPr id="18" name="TextBox 17"/>
          <p:cNvSpPr txBox="1"/>
          <p:nvPr/>
        </p:nvSpPr>
        <p:spPr>
          <a:xfrm>
            <a:off x="6281928" y="2423160"/>
            <a:ext cx="2468880" cy="1371600"/>
          </a:xfrm>
          <a:prstGeom prst="rect">
            <a:avLst/>
          </a:prstGeom>
          <a:noFill/>
        </p:spPr>
        <p:txBody>
          <a:bodyPr wrap="square" anchor="t" lIns="45720" rIns="45720" tIns="18288" bIns="18288">
            <a:spAutoFit/>
          </a:bodyPr>
          <a:lstStyle/>
          <a:p>
            <a:pPr algn="l">
              <a:spcBef>
                <a:spcPts val="200"/>
              </a:spcBef>
              <a:spcAft>
                <a:spcPts val="0"/>
              </a:spcAft>
              <a:buNone/>
            </a:pPr>
            <a:r>
              <a:rPr sz="1200" b="0" i="0">
                <a:solidFill>
                  <a:srgbClr val="333B47"/>
                </a:solidFill>
                <a:latin typeface="Calibri"/>
              </a:rPr>
              <a:t>Congestionné dès qu’il est présent.</a:t>
            </a:r>
          </a:p>
        </p:txBody>
      </p:sp>
      <p:sp>
        <p:nvSpPr>
          <p:cNvPr id="19" name="Rounded Rectangle 18"/>
          <p:cNvSpPr/>
          <p:nvPr/>
        </p:nvSpPr>
        <p:spPr>
          <a:xfrm>
            <a:off x="8942832" y="1783080"/>
            <a:ext cx="2724912" cy="210312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42832" y="1783080"/>
            <a:ext cx="2724912" cy="502920"/>
          </a:xfrm>
          <a:prstGeom prst="roundRect">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801368"/>
            <a:ext cx="2468880" cy="502920"/>
          </a:xfrm>
          <a:prstGeom prst="rect">
            <a:avLst/>
          </a:prstGeom>
          <a:noFill/>
        </p:spPr>
        <p:txBody>
          <a:bodyPr wrap="square" anchor="ctr" lIns="45720" rIns="45720" tIns="18288" bIns="18288">
            <a:spAutoFit/>
          </a:bodyPr>
          <a:lstStyle/>
          <a:p>
            <a:pPr algn="l">
              <a:spcBef>
                <a:spcPts val="200"/>
              </a:spcBef>
              <a:spcAft>
                <a:spcPts val="0"/>
              </a:spcAft>
              <a:buNone/>
            </a:pPr>
            <a:r>
              <a:rPr sz="1250" b="1" i="0">
                <a:solidFill>
                  <a:srgbClr val="FFFFFF"/>
                </a:solidFill>
                <a:latin typeface="Calibri"/>
              </a:rPr>
              <a:t>Gris — indéterminé</a:t>
            </a:r>
          </a:p>
        </p:txBody>
      </p:sp>
      <p:sp>
        <p:nvSpPr>
          <p:cNvPr id="22" name="TextBox 21"/>
          <p:cNvSpPr txBox="1"/>
          <p:nvPr/>
        </p:nvSpPr>
        <p:spPr>
          <a:xfrm>
            <a:off x="9079992" y="2423160"/>
            <a:ext cx="2468880" cy="1371600"/>
          </a:xfrm>
          <a:prstGeom prst="rect">
            <a:avLst/>
          </a:prstGeom>
          <a:noFill/>
        </p:spPr>
        <p:txBody>
          <a:bodyPr wrap="square" anchor="t" lIns="45720" rIns="45720" tIns="18288" bIns="18288">
            <a:spAutoFit/>
          </a:bodyPr>
          <a:lstStyle/>
          <a:p>
            <a:pPr algn="l">
              <a:spcBef>
                <a:spcPts val="200"/>
              </a:spcBef>
              <a:spcAft>
                <a:spcPts val="0"/>
              </a:spcAft>
              <a:buNone/>
            </a:pPr>
            <a:r>
              <a:rPr sz="1200" b="0" i="0">
                <a:solidFill>
                  <a:srgbClr val="333B47"/>
                </a:solidFill>
                <a:latin typeface="Calibri"/>
              </a:rPr>
              <a:t>Google ne fournit pas la couleur : on ne tranche pas.</a:t>
            </a:r>
          </a:p>
        </p:txBody>
      </p:sp>
      <p:sp>
        <p:nvSpPr>
          <p:cNvPr id="23" name="Rounded Rectangle 22"/>
          <p:cNvSpPr/>
          <p:nvPr/>
        </p:nvSpPr>
        <p:spPr>
          <a:xfrm>
            <a:off x="548640" y="4160520"/>
            <a:ext cx="11091672" cy="12344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160520"/>
            <a:ext cx="91440" cy="12344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288536"/>
            <a:ext cx="10680192" cy="10058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Pourquoi ce choix</a:t>
            </a:r>
          </a:p>
          <a:p>
            <a:pPr algn="l">
              <a:spcBef>
                <a:spcPts val="200"/>
              </a:spcBef>
              <a:spcAft>
                <a:spcPts val="300"/>
              </a:spcAft>
              <a:buNone/>
            </a:pPr>
            <a:r>
              <a:rPr sz="1300" b="0" i="0">
                <a:solidFill>
                  <a:srgbClr val="333B47"/>
                </a:solidFill>
                <a:latin typeface="Calibri"/>
              </a:rPr>
              <a:t>Les indices type FHWA (ratio temps/temps fluide) déclaraient « congestion » à cause de simples feux tricolores. Le critère couleur DEESP colle exactement à la méthodologie officielle du rapport et évite ces faux positifs. Les temps min / moyen / max restent calculés pour les tableaux.</a:t>
            </a:r>
          </a:p>
        </p:txBody>
      </p:sp>
      <p:sp>
        <p:nvSpPr>
          <p:cNvPr id="26" name="Rectangle 25"/>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28" name="TextBox 27"/>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nchor="t" lIns="45720" rIns="45720" tIns="18288" bIns="18288">
            <a:spAutoFit/>
          </a:bodyPr>
          <a:lstStyle/>
          <a:p>
            <a:pPr algn="l">
              <a:spcBef>
                <a:spcPts val="200"/>
              </a:spcBef>
              <a:spcAft>
                <a:spcPts val="0"/>
              </a:spcAft>
              <a:buNone/>
            </a:pPr>
            <a:r>
              <a:rPr sz="4000" b="1" i="0">
                <a:solidFill>
                  <a:srgbClr val="53B9E8"/>
                </a:solidFill>
                <a:latin typeface="Calibri"/>
              </a:rPr>
              <a:t>3</a:t>
            </a:r>
          </a:p>
        </p:txBody>
      </p:sp>
      <p:sp>
        <p:nvSpPr>
          <p:cNvPr id="5" name="TextBox 4"/>
          <p:cNvSpPr txBox="1"/>
          <p:nvPr/>
        </p:nvSpPr>
        <p:spPr>
          <a:xfrm>
            <a:off x="822960" y="3063240"/>
            <a:ext cx="10515600" cy="1463040"/>
          </a:xfrm>
          <a:prstGeom prst="rect">
            <a:avLst/>
          </a:prstGeom>
          <a:noFill/>
        </p:spPr>
        <p:txBody>
          <a:bodyPr wrap="square" anchor="t" lIns="45720" rIns="45720" tIns="18288" bIns="18288">
            <a:spAutoFit/>
          </a:bodyPr>
          <a:lstStyle/>
          <a:p>
            <a:pPr algn="l">
              <a:spcBef>
                <a:spcPts val="200"/>
              </a:spcBef>
              <a:spcAft>
                <a:spcPts val="200"/>
              </a:spcAft>
              <a:buNone/>
            </a:pPr>
            <a:r>
              <a:rPr sz="3600" b="1" i="0">
                <a:solidFill>
                  <a:srgbClr val="FFFFFF"/>
                </a:solidFill>
                <a:latin typeface="Calibri"/>
              </a:rPr>
              <a:t>Les ajouts et le « surplus »</a:t>
            </a:r>
          </a:p>
          <a:p>
            <a:pPr algn="l">
              <a:spcBef>
                <a:spcPts val="200"/>
              </a:spcBef>
              <a:spcAft>
                <a:spcPts val="0"/>
              </a:spcAft>
              <a:buNone/>
            </a:pPr>
            <a:r>
              <a:rPr sz="1700" b="0" i="0">
                <a:solidFill>
                  <a:srgbClr val="C3D5E8"/>
                </a:solidFill>
                <a:latin typeface="Calibri"/>
              </a:rPr>
              <a:t>Ce qui approfondit la solution et facilite l’expérience utilisateur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AJOUT STRATÉGIQUE</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Les tronçons codifiés : localiser précisément la congestion</a:t>
            </a:r>
          </a:p>
        </p:txBody>
      </p:sp>
      <p:sp>
        <p:nvSpPr>
          <p:cNvPr id="7" name="TextBox 6"/>
          <p:cNvSpPr txBox="1"/>
          <p:nvPr/>
        </p:nvSpPr>
        <p:spPr>
          <a:xfrm>
            <a:off x="548640" y="1508760"/>
            <a:ext cx="6400800" cy="4389120"/>
          </a:xfrm>
          <a:prstGeom prst="rect">
            <a:avLst/>
          </a:prstGeom>
          <a:noFill/>
        </p:spPr>
        <p:txBody>
          <a:bodyPr wrap="square" anchor="t" lIns="45720" rIns="45720" tIns="18288" bIns="18288">
            <a:spAutoFit/>
          </a:bodyPr>
          <a:lstStyle/>
          <a:p>
            <a:pPr algn="l">
              <a:spcBef>
                <a:spcPts val="200"/>
              </a:spcBef>
              <a:spcAft>
                <a:spcPts val="800"/>
              </a:spcAft>
              <a:buNone/>
            </a:pPr>
            <a:r>
              <a:rPr sz="1500" b="0" i="0">
                <a:solidFill>
                  <a:srgbClr val="333B47"/>
                </a:solidFill>
                <a:latin typeface="Calibri"/>
              </a:rPr>
              <a:t>Chaque axe officiel peut être découpé en tronçons codifiés — T1A, T1B, T1C… — selon la convention DEESP.</a:t>
            </a:r>
          </a:p>
          <a:p>
            <a:pPr algn="l">
              <a:spcBef>
                <a:spcPts val="200"/>
              </a:spcBef>
              <a:spcAft>
                <a:spcPts val="800"/>
              </a:spcAft>
              <a:buNone/>
            </a:pPr>
            <a:r>
              <a:rPr sz="1500" b="1" i="0">
                <a:solidFill>
                  <a:srgbClr val="0F2240"/>
                </a:solidFill>
                <a:latin typeface="Calibri"/>
              </a:rPr>
              <a:t>La collecte descend alors à la granularité fine. </a:t>
            </a:r>
            <a:r>
              <a:rPr sz="1500" b="0" i="0">
                <a:solidFill>
                  <a:srgbClr val="333B47"/>
                </a:solidFill>
                <a:latin typeface="Calibri"/>
              </a:rPr>
              <a:t>Au lieu de savoir seulement qu’un axe de 15 km est congestionné, on identifie EXACTEMENT le tronçon en cause : un pont, un carrefour, une portion de boulevard.</a:t>
            </a:r>
          </a:p>
          <a:p>
            <a:pPr algn="l">
              <a:spcBef>
                <a:spcPts val="200"/>
              </a:spcBef>
              <a:spcAft>
                <a:spcPts val="800"/>
              </a:spcAft>
              <a:buNone/>
            </a:pPr>
            <a:r>
              <a:rPr sz="1500" b="0" i="0">
                <a:solidFill>
                  <a:srgbClr val="333B47"/>
                </a:solidFill>
                <a:latin typeface="Calibri"/>
              </a:rPr>
              <a:t>C’est la donnée qui permet d’investir au bon endroit — plutôt que de traiter tout l’axe.</a:t>
            </a:r>
          </a:p>
          <a:p>
            <a:pPr algn="l" indent="-228600" marL="228600">
              <a:spcBef>
                <a:spcPts val="200"/>
              </a:spcBef>
              <a:spcAft>
                <a:spcPts val="300"/>
              </a:spcAft>
              <a:buFont typeface="Arial"/>
              <a:buChar char="▸"/>
            </a:pPr>
            <a:r>
              <a:rPr sz="1350" b="0" i="0">
                <a:solidFill>
                  <a:srgbClr val="333B47"/>
                </a:solidFill>
                <a:latin typeface="Calibri"/>
              </a:rPr>
              <a:t>Sélecteur « Axe parent » distingue axes officiels DEESP et tronçons supplémentaires.</a:t>
            </a:r>
          </a:p>
          <a:p>
            <a:pPr algn="l" indent="-228600" marL="228600">
              <a:spcBef>
                <a:spcPts val="200"/>
              </a:spcBef>
              <a:spcAft>
                <a:spcPts val="300"/>
              </a:spcAft>
              <a:buFont typeface="Arial"/>
              <a:buChar char="▸"/>
            </a:pPr>
            <a:r>
              <a:rPr sz="1350" b="0" i="0">
                <a:solidFill>
                  <a:srgbClr val="333B47"/>
                </a:solidFill>
                <a:latin typeface="Calibri"/>
              </a:rPr>
              <a:t>Table « Tronçons existants » regroupe les codifiés + les tronçons supplémentaires.</a:t>
            </a:r>
          </a:p>
          <a:p>
            <a:pPr algn="l" indent="-228600" marL="228600">
              <a:spcBef>
                <a:spcPts val="200"/>
              </a:spcBef>
              <a:spcAft>
                <a:spcPts val="300"/>
              </a:spcAft>
              <a:buFont typeface="Arial"/>
              <a:buChar char="▸"/>
            </a:pPr>
            <a:r>
              <a:rPr sz="1350" b="0" i="0">
                <a:solidFill>
                  <a:srgbClr val="333B47"/>
                </a:solidFill>
                <a:latin typeface="Calibri"/>
              </a:rPr>
              <a:t>Adoption automatique par toute la chaîne, sans redéploiement.</a:t>
            </a:r>
          </a:p>
        </p:txBody>
      </p:sp>
      <p:sp>
        <p:nvSpPr>
          <p:cNvPr id="8" name="Rounded Rectangle 7"/>
          <p:cNvSpPr/>
          <p:nvPr/>
        </p:nvSpPr>
        <p:spPr>
          <a:xfrm>
            <a:off x="7178040" y="1645920"/>
            <a:ext cx="4434840" cy="4297680"/>
          </a:xfrm>
          <a:prstGeom prst="roundRect">
            <a:avLst/>
          </a:prstGeom>
          <a:solidFill>
            <a:srgbClr val="F3F7FC"/>
          </a:solidFill>
          <a:ln w="15875">
            <a:solidFill>
              <a:srgbClr val="2E6C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buNone/>
            </a:pPr>
            <a:r>
              <a:rPr sz="1200" b="1" i="0">
                <a:solidFill>
                  <a:srgbClr val="2E6CB2"/>
                </a:solidFill>
                <a:latin typeface="Calibri"/>
              </a:rPr>
              <a:t>▢  CAPTURE D’ÉCRAN</a:t>
            </a:r>
          </a:p>
          <a:p>
            <a:pPr algn="ctr">
              <a:spcBef>
                <a:spcPts val="200"/>
              </a:spcBef>
              <a:spcAft>
                <a:spcPts val="0"/>
              </a:spcAft>
              <a:buNone/>
            </a:pPr>
            <a:r>
              <a:rPr sz="1050" b="0" i="1">
                <a:solidFill>
                  <a:srgbClr val="5A5A5A"/>
                </a:solidFill>
                <a:latin typeface="Calibri"/>
              </a:rPr>
              <a:t>Onglet « Tronçons codifiés » — Axe parent + tableau des tronçons existants (T1A / T1B / T1C)</a:t>
            </a:r>
          </a:p>
        </p:txBody>
      </p:sp>
      <p:sp>
        <p:nvSpPr>
          <p:cNvPr id="9" name="Rectangle 8"/>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1" name="TextBox 10"/>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AJOUTS &amp; SURPLUS</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Les fonctionnalités qui enrichissent l’expérience</a:t>
            </a:r>
          </a:p>
        </p:txBody>
      </p:sp>
      <p:sp>
        <p:nvSpPr>
          <p:cNvPr id="7" name="Rounded Rectangle 6"/>
          <p:cNvSpPr/>
          <p:nvPr/>
        </p:nvSpPr>
        <p:spPr>
          <a:xfrm>
            <a:off x="548640" y="1691640"/>
            <a:ext cx="3611880" cy="21488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91640"/>
            <a:ext cx="91440" cy="21488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19656"/>
            <a:ext cx="3200400" cy="19202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Veille automatique des incidents</a:t>
            </a:r>
          </a:p>
          <a:p>
            <a:pPr algn="l">
              <a:spcBef>
                <a:spcPts val="200"/>
              </a:spcBef>
              <a:spcAft>
                <a:spcPts val="300"/>
              </a:spcAft>
              <a:buNone/>
            </a:pPr>
            <a:r>
              <a:rPr sz="1250" b="0" i="0">
                <a:solidFill>
                  <a:srgbClr val="333B47"/>
                </a:solidFill>
                <a:latin typeface="Calibri"/>
              </a:rPr>
              <a:t>Scraping presse 30 min, filtre zone portuaire, géolocalisation, carte + badge.</a:t>
            </a:r>
          </a:p>
        </p:txBody>
      </p:sp>
      <p:sp>
        <p:nvSpPr>
          <p:cNvPr id="10" name="Rounded Rectangle 9"/>
          <p:cNvSpPr/>
          <p:nvPr/>
        </p:nvSpPr>
        <p:spPr>
          <a:xfrm>
            <a:off x="4251959" y="1691640"/>
            <a:ext cx="3611880" cy="21488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51959" y="1691640"/>
            <a:ext cx="91440" cy="21488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819656"/>
            <a:ext cx="3200400" cy="19202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Chatbot guide (Claude)</a:t>
            </a:r>
          </a:p>
          <a:p>
            <a:pPr algn="l">
              <a:spcBef>
                <a:spcPts val="200"/>
              </a:spcBef>
              <a:spcAft>
                <a:spcPts val="300"/>
              </a:spcAft>
              <a:buNone/>
            </a:pPr>
            <a:r>
              <a:rPr sz="1250" b="0" i="0">
                <a:solidFill>
                  <a:srgbClr val="333B47"/>
                </a:solidFill>
                <a:latin typeface="Calibri"/>
              </a:rPr>
              <a:t>Assistant qui connaît l’app et injecte les données réelles avant de répondre.</a:t>
            </a:r>
          </a:p>
        </p:txBody>
      </p:sp>
      <p:sp>
        <p:nvSpPr>
          <p:cNvPr id="13" name="Rounded Rectangle 12"/>
          <p:cNvSpPr/>
          <p:nvPr/>
        </p:nvSpPr>
        <p:spPr>
          <a:xfrm>
            <a:off x="7955279" y="1691640"/>
            <a:ext cx="3611880" cy="21488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79" y="1691640"/>
            <a:ext cx="91440" cy="21488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1" y="1819656"/>
            <a:ext cx="3200400" cy="19202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Validation terrain GPX</a:t>
            </a:r>
          </a:p>
          <a:p>
            <a:pPr algn="l">
              <a:spcBef>
                <a:spcPts val="200"/>
              </a:spcBef>
              <a:spcAft>
                <a:spcPts val="300"/>
              </a:spcAft>
              <a:buNone/>
            </a:pPr>
            <a:r>
              <a:rPr sz="1250" b="0" i="0">
                <a:solidFill>
                  <a:srgbClr val="333B47"/>
                </a:solidFill>
                <a:latin typeface="Calibri"/>
              </a:rPr>
              <a:t>Import de vraies traces GPS et calibration transparente API / terrain.</a:t>
            </a:r>
          </a:p>
        </p:txBody>
      </p:sp>
      <p:sp>
        <p:nvSpPr>
          <p:cNvPr id="16" name="Rounded Rectangle 15"/>
          <p:cNvSpPr/>
          <p:nvPr/>
        </p:nvSpPr>
        <p:spPr>
          <a:xfrm>
            <a:off x="548640" y="3977639"/>
            <a:ext cx="3611880" cy="21488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977639"/>
            <a:ext cx="91440" cy="21488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105655"/>
            <a:ext cx="3200400" cy="19202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Évolution pluriannuelle</a:t>
            </a:r>
          </a:p>
          <a:p>
            <a:pPr algn="l">
              <a:spcBef>
                <a:spcPts val="200"/>
              </a:spcBef>
              <a:spcAft>
                <a:spcPts val="300"/>
              </a:spcAft>
              <a:buNone/>
            </a:pPr>
            <a:r>
              <a:rPr sz="1250" b="0" i="0">
                <a:solidFill>
                  <a:srgbClr val="333B47"/>
                </a:solidFill>
                <a:latin typeface="Calibri"/>
              </a:rPr>
              <a:t>Comparaison automatique des campagnes + mois en cours de collecte.</a:t>
            </a:r>
          </a:p>
        </p:txBody>
      </p:sp>
      <p:sp>
        <p:nvSpPr>
          <p:cNvPr id="19" name="Rounded Rectangle 18"/>
          <p:cNvSpPr/>
          <p:nvPr/>
        </p:nvSpPr>
        <p:spPr>
          <a:xfrm>
            <a:off x="4251959" y="3977639"/>
            <a:ext cx="3611880" cy="21488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51959" y="3977639"/>
            <a:ext cx="91440" cy="21488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4105655"/>
            <a:ext cx="3200400" cy="19202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Filtre créneau horaire global</a:t>
            </a:r>
          </a:p>
          <a:p>
            <a:pPr algn="l">
              <a:spcBef>
                <a:spcPts val="200"/>
              </a:spcBef>
              <a:spcAft>
                <a:spcPts val="300"/>
              </a:spcAft>
              <a:buNone/>
            </a:pPr>
            <a:r>
              <a:rPr sz="1250" b="0" i="0">
                <a:solidFill>
                  <a:srgbClr val="333B47"/>
                </a:solidFill>
                <a:latin typeface="Calibri"/>
              </a:rPr>
              <a:t>Restreint toutes les analyses à une plage (ex. 07 h–19 h DEESP).</a:t>
            </a:r>
          </a:p>
        </p:txBody>
      </p:sp>
      <p:sp>
        <p:nvSpPr>
          <p:cNvPr id="22" name="Rounded Rectangle 21"/>
          <p:cNvSpPr/>
          <p:nvPr/>
        </p:nvSpPr>
        <p:spPr>
          <a:xfrm>
            <a:off x="7955279" y="3977639"/>
            <a:ext cx="3611880" cy="21488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955279" y="3977639"/>
            <a:ext cx="91440" cy="2148840"/>
          </a:xfrm>
          <a:prstGeom prst="roundRect">
            <a:avLst/>
          </a:prstGeom>
          <a:solidFill>
            <a:srgbClr val="2E6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1311" y="4105655"/>
            <a:ext cx="3200400" cy="192024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Confort &amp; restitution</a:t>
            </a:r>
          </a:p>
          <a:p>
            <a:pPr algn="l">
              <a:spcBef>
                <a:spcPts val="200"/>
              </a:spcBef>
              <a:spcAft>
                <a:spcPts val="300"/>
              </a:spcAft>
              <a:buNone/>
            </a:pPr>
            <a:r>
              <a:rPr sz="1250" b="0" i="0">
                <a:solidFill>
                  <a:srgbClr val="333B47"/>
                </a:solidFill>
                <a:latin typeface="Calibri"/>
              </a:rPr>
              <a:t>Bilingue FR/EN, thème clair/sombre, vue satellite, exports CSV/Excel, PDF direct.</a:t>
            </a:r>
          </a:p>
        </p:txBody>
      </p:sp>
      <p:sp>
        <p:nvSpPr>
          <p:cNvPr id="25" name="Rectangle 24"/>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27" name="TextBox 26"/>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RIGUEUR DU PROJET</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Des difficultés réelles, des solutions assumées</a:t>
            </a:r>
          </a:p>
        </p:txBody>
      </p:sp>
      <p:sp>
        <p:nvSpPr>
          <p:cNvPr id="7" name="Rectangle 6"/>
          <p:cNvSpPr/>
          <p:nvPr/>
        </p:nvSpPr>
        <p:spPr>
          <a:xfrm>
            <a:off x="548640" y="1691640"/>
            <a:ext cx="146304" cy="658368"/>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91640"/>
            <a:ext cx="10698480" cy="73152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Collecte limitée à 7 h–19 h  →  </a:t>
            </a:r>
            <a:r>
              <a:rPr sz="1350" b="0" i="0">
                <a:solidFill>
                  <a:srgbClr val="333B47"/>
                </a:solidFill>
                <a:latin typeface="Calibri"/>
              </a:rPr>
              <a:t>Étendue à 24 h/24 (144 req/j &lt; quota 250) ; conformité DEESP préservée par filtrage.</a:t>
            </a:r>
          </a:p>
        </p:txBody>
      </p:sp>
      <p:sp>
        <p:nvSpPr>
          <p:cNvPr id="9" name="Rectangle 8"/>
          <p:cNvSpPr/>
          <p:nvPr/>
        </p:nvSpPr>
        <p:spPr>
          <a:xfrm>
            <a:off x="548640" y="2450592"/>
            <a:ext cx="146304" cy="658368"/>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50592"/>
            <a:ext cx="10698480" cy="73152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TomTom inexploitable à Abidjan  →  </a:t>
            </a:r>
            <a:r>
              <a:rPr sz="1350" b="0" i="0">
                <a:solidFill>
                  <a:srgbClr val="333B47"/>
                </a:solidFill>
                <a:latin typeface="Calibri"/>
              </a:rPr>
              <a:t>18/18 points hors couverture → source retirée, cascade simplifiée à 3 niveaux.</a:t>
            </a:r>
          </a:p>
        </p:txBody>
      </p:sp>
      <p:sp>
        <p:nvSpPr>
          <p:cNvPr id="11" name="Rectangle 10"/>
          <p:cNvSpPr/>
          <p:nvPr/>
        </p:nvSpPr>
        <p:spPr>
          <a:xfrm>
            <a:off x="548640" y="3209544"/>
            <a:ext cx="146304" cy="658368"/>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09544"/>
            <a:ext cx="10698480" cy="73152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Indices FHWA trompeurs (feux)  →  </a:t>
            </a:r>
            <a:r>
              <a:rPr sz="1350" b="0" i="0">
                <a:solidFill>
                  <a:srgbClr val="333B47"/>
                </a:solidFill>
                <a:latin typeface="Calibri"/>
              </a:rPr>
              <a:t>Bascule vers le critère couleur DEESP officiel.</a:t>
            </a:r>
          </a:p>
        </p:txBody>
      </p:sp>
      <p:sp>
        <p:nvSpPr>
          <p:cNvPr id="13" name="Rectangle 12"/>
          <p:cNvSpPr/>
          <p:nvPr/>
        </p:nvSpPr>
        <p:spPr>
          <a:xfrm>
            <a:off x="548640" y="3968496"/>
            <a:ext cx="146304" cy="658368"/>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68496"/>
            <a:ext cx="10698480" cy="73152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GPX perdus au redéploiement  →  </a:t>
            </a:r>
            <a:r>
              <a:rPr sz="1350" b="0" i="0">
                <a:solidFill>
                  <a:srgbClr val="333B47"/>
                </a:solidFill>
                <a:latin typeface="Calibri"/>
              </a:rPr>
              <a:t>Contenu stocké en base (BYTEA), source de vérité pérenne.</a:t>
            </a:r>
          </a:p>
        </p:txBody>
      </p:sp>
      <p:sp>
        <p:nvSpPr>
          <p:cNvPr id="15" name="Rectangle 14"/>
          <p:cNvSpPr/>
          <p:nvPr/>
        </p:nvSpPr>
        <p:spPr>
          <a:xfrm>
            <a:off x="548640" y="4727448"/>
            <a:ext cx="146304" cy="658368"/>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727448"/>
            <a:ext cx="10698480" cy="73152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Incidents disparus en 6 h  →  </a:t>
            </a:r>
            <a:r>
              <a:rPr sz="1350" b="0" i="0">
                <a:solidFill>
                  <a:srgbClr val="333B47"/>
                </a:solidFill>
                <a:latin typeface="Calibri"/>
              </a:rPr>
              <a:t>Seuil porté à 30 jours, configurable.</a:t>
            </a:r>
          </a:p>
        </p:txBody>
      </p:sp>
      <p:sp>
        <p:nvSpPr>
          <p:cNvPr id="17" name="Rectangle 16"/>
          <p:cNvSpPr/>
          <p:nvPr/>
        </p:nvSpPr>
        <p:spPr>
          <a:xfrm>
            <a:off x="548640" y="5486400"/>
            <a:ext cx="146304" cy="658368"/>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486400"/>
            <a:ext cx="10698480" cy="731520"/>
          </a:xfrm>
          <a:prstGeom prst="rect">
            <a:avLst/>
          </a:prstGeom>
          <a:noFill/>
        </p:spPr>
        <p:txBody>
          <a:bodyPr wrap="square" anchor="ctr" lIns="45720" rIns="45720" tIns="18288" bIns="18288">
            <a:spAutoFit/>
          </a:bodyPr>
          <a:lstStyle/>
          <a:p>
            <a:pPr algn="l">
              <a:spcBef>
                <a:spcPts val="200"/>
              </a:spcBef>
              <a:spcAft>
                <a:spcPts val="400"/>
              </a:spcAft>
              <a:buNone/>
            </a:pPr>
            <a:r>
              <a:rPr sz="1350" b="1" i="0">
                <a:solidFill>
                  <a:srgbClr val="0F2240"/>
                </a:solidFill>
                <a:latin typeface="Calibri"/>
              </a:rPr>
              <a:t>PDF &amp; dépendances vulnérables  →  </a:t>
            </a:r>
            <a:r>
              <a:rPr sz="1350" b="0" i="0">
                <a:solidFill>
                  <a:srgbClr val="333B47"/>
                </a:solidFill>
                <a:latin typeface="Calibri"/>
              </a:rPr>
              <a:t>Génération serveur en pur Python (fpdf2), sans faille.</a:t>
            </a:r>
          </a:p>
        </p:txBody>
      </p:sp>
      <p:sp>
        <p:nvSpPr>
          <p:cNvPr id="19" name="Rectangle 18"/>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21" name="TextBox 20"/>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DÉMONSTRATION</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Un aperçu de l’application</a:t>
            </a:r>
          </a:p>
        </p:txBody>
      </p:sp>
      <p:sp>
        <p:nvSpPr>
          <p:cNvPr id="7" name="Rounded Rectangle 6"/>
          <p:cNvSpPr/>
          <p:nvPr/>
        </p:nvSpPr>
        <p:spPr>
          <a:xfrm>
            <a:off x="548640" y="1645920"/>
            <a:ext cx="5486400" cy="2148840"/>
          </a:xfrm>
          <a:prstGeom prst="roundRect">
            <a:avLst/>
          </a:prstGeom>
          <a:solidFill>
            <a:srgbClr val="F3F7FC"/>
          </a:solidFill>
          <a:ln w="15875">
            <a:solidFill>
              <a:srgbClr val="2E6C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buNone/>
            </a:pPr>
            <a:r>
              <a:rPr sz="1200" b="1" i="0">
                <a:solidFill>
                  <a:srgbClr val="2E6CB2"/>
                </a:solidFill>
                <a:latin typeface="Calibri"/>
              </a:rPr>
              <a:t>▢  CAPTURE D’ÉCRAN</a:t>
            </a:r>
          </a:p>
          <a:p>
            <a:pPr algn="ctr">
              <a:spcBef>
                <a:spcPts val="200"/>
              </a:spcBef>
              <a:spcAft>
                <a:spcPts val="0"/>
              </a:spcAft>
              <a:buNone/>
            </a:pPr>
            <a:r>
              <a:rPr sz="1050" b="0" i="1">
                <a:solidFill>
                  <a:srgbClr val="5A5A5A"/>
                </a:solidFill>
                <a:latin typeface="Calibri"/>
              </a:rPr>
              <a:t>Page Accueil — carte temps réel</a:t>
            </a:r>
          </a:p>
        </p:txBody>
      </p:sp>
      <p:sp>
        <p:nvSpPr>
          <p:cNvPr id="8" name="Rounded Rectangle 7"/>
          <p:cNvSpPr/>
          <p:nvPr/>
        </p:nvSpPr>
        <p:spPr>
          <a:xfrm>
            <a:off x="6172200" y="1645920"/>
            <a:ext cx="5486400" cy="2148840"/>
          </a:xfrm>
          <a:prstGeom prst="roundRect">
            <a:avLst/>
          </a:prstGeom>
          <a:solidFill>
            <a:srgbClr val="F3F7FC"/>
          </a:solidFill>
          <a:ln w="15875">
            <a:solidFill>
              <a:srgbClr val="2E6C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buNone/>
            </a:pPr>
            <a:r>
              <a:rPr sz="1200" b="1" i="0">
                <a:solidFill>
                  <a:srgbClr val="2E6CB2"/>
                </a:solidFill>
                <a:latin typeface="Calibri"/>
              </a:rPr>
              <a:t>▢  CAPTURE D’ÉCRAN</a:t>
            </a:r>
          </a:p>
          <a:p>
            <a:pPr algn="ctr">
              <a:spcBef>
                <a:spcPts val="200"/>
              </a:spcBef>
              <a:spcAft>
                <a:spcPts val="0"/>
              </a:spcAft>
              <a:buNone/>
            </a:pPr>
            <a:r>
              <a:rPr sz="1050" b="0" i="1">
                <a:solidFill>
                  <a:srgbClr val="5A5A5A"/>
                </a:solidFill>
                <a:latin typeface="Calibri"/>
              </a:rPr>
              <a:t>Page Indicateurs — KPI + graphiques</a:t>
            </a:r>
          </a:p>
        </p:txBody>
      </p:sp>
      <p:sp>
        <p:nvSpPr>
          <p:cNvPr id="9" name="Rounded Rectangle 8"/>
          <p:cNvSpPr/>
          <p:nvPr/>
        </p:nvSpPr>
        <p:spPr>
          <a:xfrm>
            <a:off x="548640" y="3931920"/>
            <a:ext cx="5486400" cy="2148840"/>
          </a:xfrm>
          <a:prstGeom prst="roundRect">
            <a:avLst/>
          </a:prstGeom>
          <a:solidFill>
            <a:srgbClr val="F3F7FC"/>
          </a:solidFill>
          <a:ln w="15875">
            <a:solidFill>
              <a:srgbClr val="2E6C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buNone/>
            </a:pPr>
            <a:r>
              <a:rPr sz="1200" b="1" i="0">
                <a:solidFill>
                  <a:srgbClr val="2E6CB2"/>
                </a:solidFill>
                <a:latin typeface="Calibri"/>
              </a:rPr>
              <a:t>▢  CAPTURE D’ÉCRAN</a:t>
            </a:r>
          </a:p>
          <a:p>
            <a:pPr algn="ctr">
              <a:spcBef>
                <a:spcPts val="200"/>
              </a:spcBef>
              <a:spcAft>
                <a:spcPts val="0"/>
              </a:spcAft>
              <a:buNone/>
            </a:pPr>
            <a:r>
              <a:rPr sz="1050" b="0" i="1">
                <a:solidFill>
                  <a:srgbClr val="5A5A5A"/>
                </a:solidFill>
                <a:latin typeface="Calibri"/>
              </a:rPr>
              <a:t>Page Rapport DEESP — tableaux + matrice</a:t>
            </a:r>
          </a:p>
        </p:txBody>
      </p:sp>
      <p:sp>
        <p:nvSpPr>
          <p:cNvPr id="10" name="Rounded Rectangle 9"/>
          <p:cNvSpPr/>
          <p:nvPr/>
        </p:nvSpPr>
        <p:spPr>
          <a:xfrm>
            <a:off x="6172200" y="3931920"/>
            <a:ext cx="5486400" cy="2148840"/>
          </a:xfrm>
          <a:prstGeom prst="roundRect">
            <a:avLst/>
          </a:prstGeom>
          <a:solidFill>
            <a:srgbClr val="F3F7FC"/>
          </a:solidFill>
          <a:ln w="15875">
            <a:solidFill>
              <a:srgbClr val="2E6C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
              </a:spcBef>
              <a:spcAft>
                <a:spcPts val="200"/>
              </a:spcAft>
              <a:buNone/>
            </a:pPr>
            <a:r>
              <a:rPr sz="1200" b="1" i="0">
                <a:solidFill>
                  <a:srgbClr val="2E6CB2"/>
                </a:solidFill>
                <a:latin typeface="Calibri"/>
              </a:rPr>
              <a:t>▢  CAPTURE D’ÉCRAN</a:t>
            </a:r>
          </a:p>
          <a:p>
            <a:pPr algn="ctr">
              <a:spcBef>
                <a:spcPts val="200"/>
              </a:spcBef>
              <a:spcAft>
                <a:spcPts val="0"/>
              </a:spcAft>
              <a:buNone/>
            </a:pPr>
            <a:r>
              <a:rPr sz="1050" b="0" i="1">
                <a:solidFill>
                  <a:srgbClr val="5A5A5A"/>
                </a:solidFill>
                <a:latin typeface="Calibri"/>
              </a:rPr>
              <a:t>Page Incidents — carte + journal</a:t>
            </a:r>
          </a:p>
        </p:txBody>
      </p:sp>
      <p:sp>
        <p:nvSpPr>
          <p:cNvPr id="11" name="Rectangle 10"/>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13" name="TextBox 12"/>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nchor="t" lIns="45720" rIns="45720" tIns="18288" bIns="18288">
            <a:spAutoFit/>
          </a:bodyPr>
          <a:lstStyle/>
          <a:p>
            <a:pPr algn="l">
              <a:spcBef>
                <a:spcPts val="200"/>
              </a:spcBef>
              <a:spcAft>
                <a:spcPts val="0"/>
              </a:spcAft>
              <a:buNone/>
            </a:pPr>
            <a:r>
              <a:rPr sz="4000" b="1" i="0">
                <a:solidFill>
                  <a:srgbClr val="53B9E8"/>
                </a:solidFill>
                <a:latin typeface="Calibri"/>
              </a:rPr>
              <a:t>4</a:t>
            </a:r>
          </a:p>
        </p:txBody>
      </p:sp>
      <p:sp>
        <p:nvSpPr>
          <p:cNvPr id="5" name="TextBox 4"/>
          <p:cNvSpPr txBox="1"/>
          <p:nvPr/>
        </p:nvSpPr>
        <p:spPr>
          <a:xfrm>
            <a:off x="822960" y="3063240"/>
            <a:ext cx="10515600" cy="1280160"/>
          </a:xfrm>
          <a:prstGeom prst="rect">
            <a:avLst/>
          </a:prstGeom>
          <a:noFill/>
        </p:spPr>
        <p:txBody>
          <a:bodyPr wrap="square" anchor="t" lIns="45720" rIns="45720" tIns="18288" bIns="18288">
            <a:spAutoFit/>
          </a:bodyPr>
          <a:lstStyle/>
          <a:p>
            <a:pPr algn="l">
              <a:spcBef>
                <a:spcPts val="200"/>
              </a:spcBef>
              <a:spcAft>
                <a:spcPts val="0"/>
              </a:spcAft>
              <a:buNone/>
            </a:pPr>
            <a:r>
              <a:rPr sz="3800" b="1" i="0">
                <a:solidFill>
                  <a:srgbClr val="FFFFFF"/>
                </a:solidFill>
                <a:latin typeface="Calibri"/>
              </a:rPr>
              <a:t>Conclusion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91695" cy="54864"/>
          </a:xfrm>
          <a:prstGeom prst="rect">
            <a:avLst/>
          </a:prstGeom>
          <a:solidFill>
            <a:srgbClr val="53B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
            <a:ext cx="11155680" cy="365760"/>
          </a:xfrm>
          <a:prstGeom prst="rect">
            <a:avLst/>
          </a:prstGeom>
          <a:noFill/>
        </p:spPr>
        <p:txBody>
          <a:bodyPr wrap="square" anchor="t" lIns="45720" rIns="45720" tIns="18288" bIns="18288">
            <a:spAutoFit/>
          </a:bodyPr>
          <a:lstStyle/>
          <a:p>
            <a:pPr algn="l">
              <a:spcBef>
                <a:spcPts val="200"/>
              </a:spcBef>
              <a:spcAft>
                <a:spcPts val="0"/>
              </a:spcAft>
              <a:buNone/>
            </a:pPr>
            <a:r>
              <a:rPr sz="1200" b="1" i="0">
                <a:solidFill>
                  <a:srgbClr val="53B9E8"/>
                </a:solidFill>
                <a:latin typeface="Calibri"/>
              </a:rPr>
              <a:t>CONFORMITÉ DEESP</a:t>
            </a:r>
          </a:p>
        </p:txBody>
      </p:sp>
      <p:sp>
        <p:nvSpPr>
          <p:cNvPr id="6" name="TextBox 5"/>
          <p:cNvSpPr txBox="1"/>
          <p:nvPr/>
        </p:nvSpPr>
        <p:spPr>
          <a:xfrm>
            <a:off x="502920" y="457200"/>
            <a:ext cx="11155680" cy="731520"/>
          </a:xfrm>
          <a:prstGeom prst="rect">
            <a:avLst/>
          </a:prstGeom>
          <a:noFill/>
        </p:spPr>
        <p:txBody>
          <a:bodyPr wrap="square" anchor="t" lIns="45720" rIns="45720" tIns="18288" bIns="18288">
            <a:spAutoFit/>
          </a:bodyPr>
          <a:lstStyle/>
          <a:p>
            <a:pPr algn="l">
              <a:spcBef>
                <a:spcPts val="200"/>
              </a:spcBef>
              <a:spcAft>
                <a:spcPts val="0"/>
              </a:spcAft>
              <a:buNone/>
            </a:pPr>
            <a:r>
              <a:rPr sz="2600" b="1" i="0">
                <a:solidFill>
                  <a:srgbClr val="FFFFFF"/>
                </a:solidFill>
                <a:latin typeface="Calibri"/>
              </a:rPr>
              <a:t>Le prototype répond directement au rapport officiel</a:t>
            </a:r>
          </a:p>
        </p:txBody>
      </p:sp>
      <p:sp>
        <p:nvSpPr>
          <p:cNvPr id="7" name="Rectangle 6"/>
          <p:cNvSpPr/>
          <p:nvPr/>
        </p:nvSpPr>
        <p:spPr>
          <a:xfrm>
            <a:off x="548640" y="1737360"/>
            <a:ext cx="146304" cy="603504"/>
          </a:xfrm>
          <a:prstGeom prst="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1069848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0F2240"/>
                </a:solidFill>
                <a:latin typeface="Calibri"/>
              </a:rPr>
              <a:t>Programmation / appel des camions  —  </a:t>
            </a:r>
            <a:r>
              <a:rPr sz="1400" b="0" i="0">
                <a:solidFill>
                  <a:srgbClr val="333B47"/>
                </a:solidFill>
                <a:latin typeface="Calibri"/>
              </a:rPr>
              <a:t>Page Heure optimale : créneaux fluides par tronçon.</a:t>
            </a:r>
          </a:p>
        </p:txBody>
      </p:sp>
      <p:sp>
        <p:nvSpPr>
          <p:cNvPr id="9" name="Rectangle 8"/>
          <p:cNvSpPr/>
          <p:nvPr/>
        </p:nvSpPr>
        <p:spPr>
          <a:xfrm>
            <a:off x="548640" y="2450591"/>
            <a:ext cx="146304" cy="603504"/>
          </a:xfrm>
          <a:prstGeom prst="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50591"/>
            <a:ext cx="1069848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0F2240"/>
                </a:solidFill>
                <a:latin typeface="Calibri"/>
              </a:rPr>
              <a:t>Zones à fluidifier objectivées  —  </a:t>
            </a:r>
            <a:r>
              <a:rPr sz="1400" b="0" i="0">
                <a:solidFill>
                  <a:srgbClr val="333B47"/>
                </a:solidFill>
                <a:latin typeface="Calibri"/>
              </a:rPr>
              <a:t>Axes et tronçons codifiés congestionnés remontés par la donnée.</a:t>
            </a:r>
          </a:p>
        </p:txBody>
      </p:sp>
      <p:sp>
        <p:nvSpPr>
          <p:cNvPr id="11" name="Rectangle 10"/>
          <p:cNvSpPr/>
          <p:nvPr/>
        </p:nvSpPr>
        <p:spPr>
          <a:xfrm>
            <a:off x="548640" y="3163824"/>
            <a:ext cx="146304" cy="603504"/>
          </a:xfrm>
          <a:prstGeom prst="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63824"/>
            <a:ext cx="1069848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0F2240"/>
                </a:solidFill>
                <a:latin typeface="Calibri"/>
              </a:rPr>
              <a:t>Impact d’un flux additionnel mesurable  —  </a:t>
            </a:r>
            <a:r>
              <a:rPr sz="1400" b="0" i="0">
                <a:solidFill>
                  <a:srgbClr val="333B47"/>
                </a:solidFill>
                <a:latin typeface="Calibri"/>
              </a:rPr>
              <a:t>Ex. délocalisation SICTA sur axes saturés.</a:t>
            </a:r>
          </a:p>
        </p:txBody>
      </p:sp>
      <p:sp>
        <p:nvSpPr>
          <p:cNvPr id="13" name="Rectangle 12"/>
          <p:cNvSpPr/>
          <p:nvPr/>
        </p:nvSpPr>
        <p:spPr>
          <a:xfrm>
            <a:off x="548640" y="3877056"/>
            <a:ext cx="146304" cy="603504"/>
          </a:xfrm>
          <a:prstGeom prst="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77056"/>
            <a:ext cx="1069848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0F2240"/>
                </a:solidFill>
                <a:latin typeface="Calibri"/>
              </a:rPr>
              <a:t>Points d’asphaltage localisés  —  </a:t>
            </a:r>
            <a:r>
              <a:rPr sz="1400" b="0" i="0">
                <a:solidFill>
                  <a:srgbClr val="333B47"/>
                </a:solidFill>
                <a:latin typeface="Calibri"/>
              </a:rPr>
              <a:t>Tronçons codifiés pointant les ralentissements à traiter.</a:t>
            </a:r>
          </a:p>
        </p:txBody>
      </p:sp>
      <p:sp>
        <p:nvSpPr>
          <p:cNvPr id="15" name="Rectangle 14"/>
          <p:cNvSpPr/>
          <p:nvPr/>
        </p:nvSpPr>
        <p:spPr>
          <a:xfrm>
            <a:off x="548640" y="4590288"/>
            <a:ext cx="146304" cy="603504"/>
          </a:xfrm>
          <a:prstGeom prst="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590288"/>
            <a:ext cx="1069848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0F2240"/>
                </a:solidFill>
                <a:latin typeface="Calibri"/>
              </a:rPr>
              <a:t>Système d’alerte temps réel  —  </a:t>
            </a:r>
            <a:r>
              <a:rPr sz="1400" b="0" i="0">
                <a:solidFill>
                  <a:srgbClr val="333B47"/>
                </a:solidFill>
                <a:latin typeface="Calibri"/>
              </a:rPr>
              <a:t>Cœur de PAA-Traverse — recommandation n°5 du rapport.</a:t>
            </a:r>
          </a:p>
        </p:txBody>
      </p:sp>
      <p:sp>
        <p:nvSpPr>
          <p:cNvPr id="17" name="Rounded Rectangle 16"/>
          <p:cNvSpPr/>
          <p:nvPr/>
        </p:nvSpPr>
        <p:spPr>
          <a:xfrm>
            <a:off x="548640" y="5486400"/>
            <a:ext cx="11091672" cy="868680"/>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5486400"/>
            <a:ext cx="91440" cy="868680"/>
          </a:xfrm>
          <a:prstGeom prst="roundRect">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614416"/>
            <a:ext cx="10680192" cy="640080"/>
          </a:xfrm>
          <a:prstGeom prst="rect">
            <a:avLst/>
          </a:prstGeom>
          <a:noFill/>
        </p:spPr>
        <p:txBody>
          <a:bodyPr wrap="square" anchor="t" lIns="45720" rIns="45720" tIns="18288" bIns="18288">
            <a:spAutoFit/>
          </a:bodyPr>
          <a:lstStyle/>
          <a:p>
            <a:pPr algn="l">
              <a:spcBef>
                <a:spcPts val="200"/>
              </a:spcBef>
              <a:spcAft>
                <a:spcPts val="400"/>
              </a:spcAft>
              <a:buNone/>
            </a:pPr>
            <a:r>
              <a:rPr sz="1500" b="1" i="0">
                <a:solidFill>
                  <a:srgbClr val="0F2240"/>
                </a:solidFill>
                <a:latin typeface="Calibri"/>
              </a:rPr>
              <a:t>L’argument fort</a:t>
            </a:r>
          </a:p>
          <a:p>
            <a:pPr algn="l">
              <a:spcBef>
                <a:spcPts val="200"/>
              </a:spcBef>
              <a:spcAft>
                <a:spcPts val="300"/>
              </a:spcAft>
              <a:buNone/>
            </a:pPr>
            <a:r>
              <a:rPr sz="1350" b="1" i="0">
                <a:solidFill>
                  <a:srgbClr val="0F2240"/>
                </a:solidFill>
                <a:latin typeface="Calibri"/>
              </a:rPr>
              <a:t>PAA-Traverse EST le « système d’alerte temps réel sur les conditions de circulation » recommandé par le rapport DEESP d’octobre 2025.</a:t>
            </a:r>
          </a:p>
        </p:txBody>
      </p:sp>
      <p:sp>
        <p:nvSpPr>
          <p:cNvPr id="20" name="Rectangle 19"/>
          <p:cNvSpPr/>
          <p:nvPr/>
        </p:nvSpPr>
        <p:spPr>
          <a:xfrm>
            <a:off x="0" y="6510528"/>
            <a:ext cx="12191695" cy="18288"/>
          </a:xfrm>
          <a:prstGeom prst="rect">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10528"/>
            <a:ext cx="7315200" cy="292608"/>
          </a:xfrm>
          <a:prstGeom prst="rect">
            <a:avLst/>
          </a:prstGeom>
          <a:noFill/>
        </p:spPr>
        <p:txBody>
          <a:bodyPr wrap="square" anchor="ctr" lIns="45720" rIns="45720" tIns="18288" bIns="18288">
            <a:spAutoFit/>
          </a:bodyPr>
          <a:lstStyle/>
          <a:p>
            <a:pPr algn="l">
              <a:spcBef>
                <a:spcPts val="200"/>
              </a:spcBef>
              <a:spcAft>
                <a:spcPts val="0"/>
              </a:spcAft>
              <a:buNone/>
            </a:pPr>
            <a:r>
              <a:rPr sz="900" b="0" i="0">
                <a:solidFill>
                  <a:srgbClr val="5A5A5A"/>
                </a:solidFill>
                <a:latin typeface="Calibri"/>
              </a:rPr>
              <a:t>PAA-Traverse  ·  Port Autonome d’Abidjan  ·  Équipe HACKHATONIA</a:t>
            </a:r>
          </a:p>
        </p:txBody>
      </p:sp>
      <p:sp>
        <p:nvSpPr>
          <p:cNvPr id="22" name="TextBox 21"/>
          <p:cNvSpPr txBox="1"/>
          <p:nvPr/>
        </p:nvSpPr>
        <p:spPr>
          <a:xfrm>
            <a:off x="10515600" y="6510528"/>
            <a:ext cx="1188720" cy="292608"/>
          </a:xfrm>
          <a:prstGeom prst="rect">
            <a:avLst/>
          </a:prstGeom>
          <a:noFill/>
        </p:spPr>
        <p:txBody>
          <a:bodyPr wrap="square" anchor="ctr" lIns="45720" rIns="45720" tIns="18288" bIns="18288">
            <a:spAutoFit/>
          </a:bodyPr>
          <a:lstStyle/>
          <a:p>
            <a:pPr algn="r">
              <a:spcBef>
                <a:spcPts val="200"/>
              </a:spcBef>
              <a:spcAft>
                <a:spcPts val="0"/>
              </a:spcAft>
              <a:buNone/>
            </a:pPr>
            <a:r>
              <a:rPr sz="900" b="0" i="0">
                <a:solidFill>
                  <a:srgbClr val="5A5A5A"/>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10515600" cy="914400"/>
          </a:xfrm>
          <a:prstGeom prst="rect">
            <a:avLst/>
          </a:prstGeom>
          <a:noFill/>
        </p:spPr>
        <p:txBody>
          <a:bodyPr wrap="square" anchor="t" lIns="45720" rIns="45720" tIns="18288" bIns="18288">
            <a:spAutoFit/>
          </a:bodyPr>
          <a:lstStyle/>
          <a:p>
            <a:pPr algn="l">
              <a:spcBef>
                <a:spcPts val="200"/>
              </a:spcBef>
              <a:spcAft>
                <a:spcPts val="400"/>
              </a:spcAft>
              <a:buNone/>
            </a:pPr>
            <a:r>
              <a:rPr sz="4000" b="1" i="0">
                <a:solidFill>
                  <a:srgbClr val="FFFFFF"/>
                </a:solidFill>
                <a:latin typeface="Calibri"/>
              </a:rPr>
              <a:t>Merci de votre attention</a:t>
            </a:r>
          </a:p>
          <a:p>
            <a:pPr algn="l">
              <a:spcBef>
                <a:spcPts val="200"/>
              </a:spcBef>
              <a:spcAft>
                <a:spcPts val="0"/>
              </a:spcAft>
              <a:buNone/>
            </a:pPr>
            <a:r>
              <a:rPr sz="1700" b="0" i="0">
                <a:solidFill>
                  <a:srgbClr val="53B9E8"/>
                </a:solidFill>
                <a:latin typeface="Calibri"/>
              </a:rPr>
              <a:t>Application déployée et fonctionnelle 24 h/24</a:t>
            </a:r>
          </a:p>
        </p:txBody>
      </p:sp>
      <p:sp>
        <p:nvSpPr>
          <p:cNvPr id="5" name="Rounded Rectangle 4"/>
          <p:cNvSpPr/>
          <p:nvPr/>
        </p:nvSpPr>
        <p:spPr>
          <a:xfrm>
            <a:off x="822960" y="2560320"/>
            <a:ext cx="10515600" cy="658368"/>
          </a:xfrm>
          <a:prstGeom prst="roundRect">
            <a:avLst/>
          </a:prstGeom>
          <a:solidFill>
            <a:srgbClr val="17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60320"/>
            <a:ext cx="1005840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53B9E8"/>
                </a:solidFill>
                <a:latin typeface="Calibri"/>
              </a:rPr>
              <a:t>Application en ligne   </a:t>
            </a:r>
            <a:r>
              <a:rPr sz="1300" b="0" i="0">
                <a:solidFill>
                  <a:srgbClr val="FFFFFF"/>
                </a:solidFill>
                <a:latin typeface="Calibri"/>
              </a:rPr>
              <a:t>https://frontend-production-599c.up.railway.app</a:t>
            </a:r>
          </a:p>
        </p:txBody>
      </p:sp>
      <p:sp>
        <p:nvSpPr>
          <p:cNvPr id="7" name="Rounded Rectangle 6"/>
          <p:cNvSpPr/>
          <p:nvPr/>
        </p:nvSpPr>
        <p:spPr>
          <a:xfrm>
            <a:off x="822960" y="3346703"/>
            <a:ext cx="10515600" cy="658368"/>
          </a:xfrm>
          <a:prstGeom prst="roundRect">
            <a:avLst/>
          </a:prstGeom>
          <a:solidFill>
            <a:srgbClr val="17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346703"/>
            <a:ext cx="1005840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53B9E8"/>
                </a:solidFill>
                <a:latin typeface="Calibri"/>
              </a:rPr>
              <a:t>Documentation API (Swagger)   </a:t>
            </a:r>
            <a:r>
              <a:rPr sz="1300" b="0" i="0">
                <a:solidFill>
                  <a:srgbClr val="FFFFFF"/>
                </a:solidFill>
                <a:latin typeface="Calibri"/>
              </a:rPr>
              <a:t>https://backend-production-6cbf.up.railway.app/docs</a:t>
            </a:r>
          </a:p>
        </p:txBody>
      </p:sp>
      <p:sp>
        <p:nvSpPr>
          <p:cNvPr id="9" name="Rounded Rectangle 8"/>
          <p:cNvSpPr/>
          <p:nvPr/>
        </p:nvSpPr>
        <p:spPr>
          <a:xfrm>
            <a:off x="822960" y="4133087"/>
            <a:ext cx="10515600" cy="658368"/>
          </a:xfrm>
          <a:prstGeom prst="roundRect">
            <a:avLst/>
          </a:prstGeom>
          <a:solidFill>
            <a:srgbClr val="17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133087"/>
            <a:ext cx="1005840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53B9E8"/>
                </a:solidFill>
                <a:latin typeface="Calibri"/>
              </a:rPr>
              <a:t>Code source (GitHub)   </a:t>
            </a:r>
            <a:r>
              <a:rPr sz="1300" b="0" i="0">
                <a:solidFill>
                  <a:srgbClr val="FFFFFF"/>
                </a:solidFill>
                <a:latin typeface="Calibri"/>
              </a:rPr>
              <a:t>https://github.com/jasonemmanue/PAA_Project</a:t>
            </a:r>
          </a:p>
        </p:txBody>
      </p:sp>
      <p:sp>
        <p:nvSpPr>
          <p:cNvPr id="11" name="Rounded Rectangle 10"/>
          <p:cNvSpPr/>
          <p:nvPr/>
        </p:nvSpPr>
        <p:spPr>
          <a:xfrm>
            <a:off x="822960" y="4919472"/>
            <a:ext cx="10515600" cy="658368"/>
          </a:xfrm>
          <a:prstGeom prst="roundRect">
            <a:avLst/>
          </a:prstGeom>
          <a:solidFill>
            <a:srgbClr val="17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919472"/>
            <a:ext cx="10058400" cy="658368"/>
          </a:xfrm>
          <a:prstGeom prst="rect">
            <a:avLst/>
          </a:prstGeom>
          <a:noFill/>
        </p:spPr>
        <p:txBody>
          <a:bodyPr wrap="square" anchor="ctr" lIns="45720" rIns="45720" tIns="18288" bIns="18288">
            <a:spAutoFit/>
          </a:bodyPr>
          <a:lstStyle/>
          <a:p>
            <a:pPr algn="l">
              <a:spcBef>
                <a:spcPts val="200"/>
              </a:spcBef>
              <a:spcAft>
                <a:spcPts val="400"/>
              </a:spcAft>
              <a:buNone/>
            </a:pPr>
            <a:r>
              <a:rPr sz="1400" b="1" i="0">
                <a:solidFill>
                  <a:srgbClr val="53B9E8"/>
                </a:solidFill>
                <a:latin typeface="Calibri"/>
              </a:rPr>
              <a:t>Vidéo de démonstration   </a:t>
            </a:r>
            <a:r>
              <a:rPr sz="1300" b="0" i="0">
                <a:solidFill>
                  <a:srgbClr val="FFFFFF"/>
                </a:solidFill>
                <a:latin typeface="Calibri"/>
              </a:rPr>
              <a:t>[ à compléter ]</a:t>
            </a:r>
          </a:p>
        </p:txBody>
      </p:sp>
      <p:sp>
        <p:nvSpPr>
          <p:cNvPr id="13" name="TextBox 12"/>
          <p:cNvSpPr txBox="1"/>
          <p:nvPr/>
        </p:nvSpPr>
        <p:spPr>
          <a:xfrm>
            <a:off x="822960" y="6126480"/>
            <a:ext cx="10515600" cy="548640"/>
          </a:xfrm>
          <a:prstGeom prst="rect">
            <a:avLst/>
          </a:prstGeom>
          <a:noFill/>
        </p:spPr>
        <p:txBody>
          <a:bodyPr wrap="square" anchor="t" lIns="45720" rIns="45720" tIns="18288" bIns="18288">
            <a:spAutoFit/>
          </a:bodyPr>
          <a:lstStyle/>
          <a:p>
            <a:pPr algn="l">
              <a:spcBef>
                <a:spcPts val="200"/>
              </a:spcBef>
              <a:spcAft>
                <a:spcPts val="0"/>
              </a:spcAft>
              <a:buNone/>
            </a:pPr>
            <a:r>
              <a:rPr sz="1200" b="0" i="0">
                <a:solidFill>
                  <a:srgbClr val="B9CCE0"/>
                </a:solidFill>
                <a:latin typeface="Calibri"/>
              </a:rPr>
              <a:t>Équipe HACKHATONIA — Manga Wilfried · Assamoi Ruth · Sakam Emmanuel · Chewo Helena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